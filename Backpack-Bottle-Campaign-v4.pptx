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2857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F5EFE6"/>
                </a:solidFill>
                <a:latin typeface="Times-Bold"/>
              </a:rPr>
              <a:t>backpack &amp; bottle.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F5EFE6"/>
                </a:solidFill>
                <a:latin typeface="Helvetica"/>
              </a:rPr>
              <a:t>Curated European city breaks. Transparent prices. €50 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7642"/>
                </a:solidFill>
                <a:latin typeface="Helvetica"/>
              </a:rPr>
              <a:t>Campaign brief · brand · landing page · tracking · media plan · automation.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GROUP 3 ·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EFE6"/>
                </a:solidFill>
                <a:latin typeface="Helvetica"/>
              </a:rPr>
              <a:t>Sai Prathyaksh Kanagat  ·  Marica Motta  ·  Alberto Faggiotto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EFE6"/>
                </a:solidFill>
                <a:latin typeface="Helvetica"/>
              </a:rPr>
              <a:t>Cecilia Gullett  ·  Marilu Stevens  ·  Amelia Ruben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D97642"/>
                </a:solidFill>
                <a:latin typeface="Helvetica"/>
              </a:rPr>
              <a:t>Campaign window 5 May – 15 June 2026  ·  Presented Tuesday 5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What we'll walk 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Twelve sections · ~40 minutes · questions held to the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2128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487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What we were asked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8072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Strategic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0815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Audience · offer ·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015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Brand &amp; offer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6758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Identity, 5 cities, BB50 coupon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959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The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270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Live landing page · mobile · destination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5902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Tracking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8646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GTM · GA4 · dataLayer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5184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4589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Consent Mode v2 · cookie tracking · GDPR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2128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Email &amp;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487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Brevo · welcome series · form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788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8072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Media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815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Meta · Google · budget · pacing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3383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015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KPIs &amp; measurement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6758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Funnel targets · Looker Studio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39776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9959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270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A/B test · competitors · accessibility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5902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Deliverables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8646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Vercel · GitHub · live URLs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5166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Times-Bold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184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Closing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4589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Risks · what's next · thank 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  /  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What we were asked to do · Group 3 · Backpack &amp; Bottle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Group 3 — Backpack &amp; Bottle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Promote travel deals. Generate qualified leads. Italian millennials.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53212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BUSINESS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Promote travel deals under the 'Backpack &amp; Bottle' brand and generate qualified leads interested in affordable, experience-driven European city breaks.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286000"/>
            <a:ext cx="553212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468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MARKETING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7889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Make the offer feel attractive, accessible, and time-sensitive — combining inspiration with a clear incentive to request the BB50 coupon.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69080"/>
            <a:ext cx="553212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51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WHAT WAS GIVEN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57200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Brand name. Audience demographic. Offer mechanic outline. €2,000 budget. 6-week window. 5 destinations to pick. 60/40 Meta/Google split.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4069080"/>
            <a:ext cx="553212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4251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WHAT WAS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57200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Brand identity, voice, positioning. Specific cities. Coupon code/value. Landing page. Tracking infra. Email automation. KPI targets.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  /  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STRATEGIC DECISIONS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Six choices that shape every other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Audience · offer · coupon · channels · KPIs · timing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611880" cy="16002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5EFE6"/>
                </a:solidFill>
                <a:latin typeface="Helvetica"/>
              </a:rPr>
              <a:t>Italian millennials 25–39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5EFE6"/>
                </a:solidFill>
                <a:latin typeface="Helvetica"/>
              </a:rPr>
              <a:t>Urban · €25–45k income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1" y="2286000"/>
            <a:ext cx="3611880" cy="16002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834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3A2E"/>
                </a:solidFill>
                <a:latin typeface="Helvetica"/>
              </a:rPr>
              <a:t>5 curated European cities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3A2E"/>
                </a:solidFill>
                <a:latin typeface="Helvetica"/>
              </a:rPr>
              <a:t>€280–365 · voli + hotel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3" y="2286000"/>
            <a:ext cx="3611880" cy="16002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COUPON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2834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5EFE6"/>
                </a:solidFill>
                <a:latin typeface="Helvetica"/>
              </a:rPr>
              <a:t>BB50 · €50 off · 90 days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5EFE6"/>
                </a:solidFill>
                <a:latin typeface="Helvetica"/>
              </a:rPr>
              <a:t>Min €300 booking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3611880" cy="16002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3A2E"/>
                </a:solidFill>
                <a:latin typeface="Helvetica"/>
              </a:rPr>
              <a:t>60% Meta · 40% Google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3A2E"/>
                </a:solidFill>
                <a:latin typeface="Helvetica"/>
              </a:rPr>
              <a:t>Awareness + Lead Gen + Retarget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4069080"/>
            <a:ext cx="3611880" cy="16002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1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1" y="46177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5EFE6"/>
                </a:solidFill>
                <a:latin typeface="Helvetica"/>
              </a:rPr>
              <a:t>5,000 visits · 300 leads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5EFE6"/>
                </a:solidFill>
                <a:latin typeface="Helvetica"/>
              </a:rPr>
              <a:t>€6.67 CPL · 1.8x ROAS proj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3023" y="4069080"/>
            <a:ext cx="3611880" cy="16002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46177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3A2E"/>
                </a:solidFill>
                <a:latin typeface="Helvetica"/>
              </a:rPr>
              <a:t>5 May – 15 June 2026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3A2E"/>
                </a:solidFill>
                <a:latin typeface="Helvetica"/>
              </a:rPr>
              <a:t>6 weeks · pre-summer ramp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5  /  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GROUP 3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Six roles, one shipped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Each speaker owns the section their role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40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" cy="11887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Sai Prathyaksh Kanagat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CRO Specialist +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Landing page, brand strategy, conversion optimization, project lead.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1" y="2240280"/>
            <a:ext cx="5440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1" y="2240280"/>
            <a:ext cx="548640" cy="11887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1" y="2697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1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Marica Motta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1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MarTech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1" y="2971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GTM container, GA4 events, Meta Pixel, dataLayer.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5440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548640" cy="11887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Alberto Faggiotto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Compliance Specialist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97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Cookie banner, Consent Mode v2, GDPR privacy, T&amp;Cs.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3566160"/>
            <a:ext cx="5440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3566160"/>
            <a:ext cx="548640" cy="11887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1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1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Cecilia Gullett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1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Email 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1" y="4297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Brevo setup, 8-email welcome series, contact attributes.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92040"/>
            <a:ext cx="5440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92040"/>
            <a:ext cx="548640" cy="11887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349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Marilu Stevens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Marketing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62355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Form → Brevo bridge, Meta CAPI, UTM persistence.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1" y="4892040"/>
            <a:ext cx="5440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1" y="4892040"/>
            <a:ext cx="548640" cy="11887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1" y="5349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1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Amelia Ruben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1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Campaign Analyst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1" y="562355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KPI tree, custom dimensions, Looker Studio dashboard.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6  /  54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Audience · pain points · positioning ·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Italian millennials 25–39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Urban · digitally native · time-poor · budget-conscious but not cheap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6118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611880" cy="50292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63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Age 25–39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118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Milan · Rome · Bologna · Florence · Turin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069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14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Income €25–45k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University degree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20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Single or DINK couple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1" y="2286000"/>
            <a:ext cx="36118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0831" y="2286000"/>
            <a:ext cx="3611880" cy="50292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2450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DIGITAL HABITS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063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1" y="3108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3 hours/day on Instagram + Facebook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1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1" y="36118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Discovers brands on TikTok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1" y="4069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1" y="4114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Books mostly on mobile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1" y="4572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1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Compares 5+ sites before booking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1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3751" y="5120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Reads reviews on Booking + TripAdvisor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3" y="2286000"/>
            <a:ext cx="36118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3" y="2286000"/>
            <a:ext cx="3611880" cy="50292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2450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BOOKING BEHAVIOUR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063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5944" y="3108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Travels 3–5 times/year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5944" y="36118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Average trip €250–500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4069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14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Books 2–8 weeks ahead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4572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5944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Prefers experiences over luxury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95944" y="5120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Cares about authenticity, not 5★ resorts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8  /  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What blocks them from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Five frictions the campaign solves with curation, transparency, and a real incentive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36118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642"/>
                </a:solidFill>
                <a:latin typeface="Times-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4871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Research overwhelm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Booking.com shows 500 hotels for one weekend. Paralysing. We show 3–5 curated options per city — pre-vetted for location, reviews,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1" y="2240280"/>
            <a:ext cx="36118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642"/>
                </a:solidFill>
                <a:latin typeface="Times-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4871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Price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01752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Hidden fees discovered at checkout. We show all-in prices upfront: flight + hotel + tasting itinerary, no surprise add-ons.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3" y="2240280"/>
            <a:ext cx="36118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642"/>
                </a:solidFill>
                <a:latin typeface="Times-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3" y="24871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Trust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301752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Generic OTAs feel transactional. We're an editorial brand with a point of view — every recommendation has a 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36118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642"/>
                </a:solidFill>
                <a:latin typeface="Times-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4074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FOMO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Friends are travelling, social media is full of weekends. Our coupon (€50) lowers the activation barrier from 'maybe' to 'why not'.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1" y="4160520"/>
            <a:ext cx="36118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4343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642"/>
                </a:solidFill>
                <a:latin typeface="Times-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44074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Time hostage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93776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Comparing 5 sites takes 2 hours. We compress decision-making to 5 minutes — single page, single offer, single click.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9  /  54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How we differ from every competitor in their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One sentence. Says what we are, what we promise, and who it's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9418320" cy="2286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7642"/>
                </a:solidFill>
                <a:latin typeface="Helvetica"/>
              </a:rPr>
              <a:t>OUR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5468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0" i="1">
                <a:solidFill>
                  <a:srgbClr val="F5EFE6"/>
                </a:solidFill>
                <a:latin typeface="Times-Bold"/>
              </a:rPr>
              <a:t>"Skip the research fatigue."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5196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97642"/>
                </a:solidFill>
                <a:latin typeface="Helvetica"/>
              </a:rPr>
              <a:t>European city breaks at insider prices — early-access deals that fit your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97642"/>
                </a:solidFill>
                <a:latin typeface="Helvetica"/>
              </a:rPr>
              <a:t>and deliver experiences worth sharing.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97642"/>
                </a:solidFill>
                <a:latin typeface="Helvetica"/>
              </a:rPr>
              <a:t>CURATED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486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3A2E"/>
                </a:solidFill>
                <a:latin typeface="Helvetica"/>
              </a:rPr>
              <a:t>3–5 picks per city, not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97642"/>
                </a:solidFill>
                <a:latin typeface="Helvetica"/>
              </a:rPr>
              <a:t>TRANSPARENT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486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3A2E"/>
                </a:solidFill>
                <a:latin typeface="Helvetica"/>
              </a:rPr>
              <a:t>All-in price, no hidden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97642"/>
                </a:solidFill>
                <a:latin typeface="Helvetica"/>
              </a:rPr>
              <a:t>AUTHENTIC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486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3A2E"/>
                </a:solidFill>
                <a:latin typeface="Helvetica"/>
              </a:rPr>
              <a:t>Editorial voice, real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10  /  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BRAND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Modern Wanderer — warm, editorial, trustworthy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Palette · typography · voice · all wired into the codebase as design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PALETTE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868680" cy="1188720"/>
          </a:xfrm>
          <a:prstGeom prst="rect">
            <a:avLst/>
          </a:prstGeom>
          <a:solidFill>
            <a:srgbClr val="1F3A2E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3A2E"/>
                </a:solidFill>
                <a:latin typeface="Helvetica"/>
              </a:rPr>
              <a:t>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6B62"/>
                </a:solidFill>
                <a:latin typeface="Courier"/>
              </a:rPr>
              <a:t>#1F3A2E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560320"/>
            <a:ext cx="868680" cy="1188720"/>
          </a:xfrm>
          <a:prstGeom prst="rect">
            <a:avLst/>
          </a:prstGeom>
          <a:solidFill>
            <a:srgbClr val="F5EFE6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8404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3A2E"/>
                </a:solidFill>
                <a:latin typeface="Helvetica"/>
              </a:rPr>
              <a:t>Cream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069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6B62"/>
                </a:solidFill>
                <a:latin typeface="Courier"/>
              </a:rPr>
              <a:t>#F5EFE6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560320"/>
            <a:ext cx="868680" cy="1188720"/>
          </a:xfrm>
          <a:prstGeom prst="rect">
            <a:avLst/>
          </a:prstGeom>
          <a:solidFill>
            <a:srgbClr val="D97642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8404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3A2E"/>
                </a:solidFill>
                <a:latin typeface="Helvetica"/>
              </a:rPr>
              <a:t>Burnt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69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6B62"/>
                </a:solidFill>
                <a:latin typeface="Courier"/>
              </a:rPr>
              <a:t>#D97642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560320"/>
            <a:ext cx="868680" cy="1188720"/>
          </a:xfrm>
          <a:prstGeom prst="rect">
            <a:avLst/>
          </a:prstGeom>
          <a:solidFill>
            <a:srgbClr val="142620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8404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3A2E"/>
                </a:solidFill>
                <a:latin typeface="Helvetica"/>
              </a:rPr>
              <a:t>Forest dark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69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6B62"/>
                </a:solidFill>
                <a:latin typeface="Courier"/>
              </a:rPr>
              <a:t>#142620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560320"/>
            <a:ext cx="868680" cy="1188720"/>
          </a:xfrm>
          <a:prstGeom prst="rect">
            <a:avLst/>
          </a:prstGeom>
          <a:solidFill>
            <a:srgbClr val="E8E0D0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8404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3A2E"/>
                </a:solidFill>
                <a:latin typeface="Helvetica"/>
              </a:rPr>
              <a:t>Cream dark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069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6B62"/>
                </a:solidFill>
                <a:latin typeface="Courier"/>
              </a:rPr>
              <a:t>#E8E0D0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560320"/>
            <a:ext cx="868680" cy="1188720"/>
          </a:xfrm>
          <a:prstGeom prst="rect">
            <a:avLst/>
          </a:prstGeom>
          <a:solidFill>
            <a:srgbClr val="B85F31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38404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3A2E"/>
                </a:solidFill>
                <a:latin typeface="Helvetica"/>
              </a:rPr>
              <a:t>Burnt dark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069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6B62"/>
                </a:solidFill>
                <a:latin typeface="Courier"/>
              </a:rPr>
              <a:t>#B85F31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TYPOGRAPHY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146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1F3A2E"/>
                </a:solidFill>
                <a:latin typeface="Times-Bold"/>
              </a:rPr>
              <a:t>Fraunces — display headlines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Editorial · serif · warm character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F3A2E"/>
                </a:solidFill>
                <a:latin typeface="Helvetica"/>
              </a:rPr>
              <a:t>Inter — body &amp;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160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Geometric sans · neutral · highly legible at small sizes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377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983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3A2E"/>
                </a:solidFill>
                <a:latin typeface="Helvetica"/>
              </a:rPr>
              <a:t>Direct. Says what it does, not what it 'enables'.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3A2E"/>
                </a:solidFill>
                <a:latin typeface="Helvetica"/>
              </a:rPr>
              <a:t>Editorial, not transactional. 'Skip the research fatigue', not 'Book now'.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6235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3A2E"/>
                </a:solidFill>
                <a:latin typeface="Helvetica"/>
              </a:rPr>
              <a:t>Confident in Italian. Doesn't translate from English.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97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3A2E"/>
                </a:solidFill>
                <a:latin typeface="Helvetica"/>
              </a:rPr>
              <a:t>No exclamation marks. No urgency theatre. Substance over hype.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11  /  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5 cities · BB50 coupon · the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5 curated European city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1.5–3 hour flights from Italy · transparent all-in pricing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143" y="2286000"/>
            <a:ext cx="2157984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3143" y="2286000"/>
            <a:ext cx="2157984" cy="54864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143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EFE6"/>
                </a:solidFill>
                <a:latin typeface="Times-Bold"/>
              </a:rPr>
              <a:t>ROME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143" y="306324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3A2E"/>
                </a:solidFill>
                <a:latin typeface="Times-Bold"/>
              </a:rPr>
              <a:t>€280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143" y="3566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85F31"/>
                </a:solidFill>
                <a:latin typeface="Helvetica"/>
              </a:rPr>
              <a:t>2 nights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" y="37947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voli + hotel inclusi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9999" y="2286000"/>
            <a:ext cx="2157984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39999" y="2286000"/>
            <a:ext cx="2157984" cy="54864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9999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EFE6"/>
                </a:solidFill>
                <a:latin typeface="Times-Bold"/>
              </a:rPr>
              <a:t>BARCELONA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9999" y="306324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3A2E"/>
                </a:solidFill>
                <a:latin typeface="Times-Bold"/>
              </a:rPr>
              <a:t>€320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9999" y="3566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85F31"/>
                </a:solidFill>
                <a:latin typeface="Helvetica"/>
              </a:rPr>
              <a:t>3 nights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9999" y="37947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voli + hotel inclusi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6855" y="2286000"/>
            <a:ext cx="2157984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6855" y="2286000"/>
            <a:ext cx="2157984" cy="54864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6855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EFE6"/>
                </a:solidFill>
                <a:latin typeface="Times-Bold"/>
              </a:rPr>
              <a:t>AMSTERDAM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6855" y="306324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3A2E"/>
                </a:solidFill>
                <a:latin typeface="Times-Bold"/>
              </a:rPr>
              <a:t>€365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6855" y="3566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85F31"/>
                </a:solidFill>
                <a:latin typeface="Helvetica"/>
              </a:rPr>
              <a:t>3 nights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6855" y="37947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voli + hotel inclusi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3711" y="2286000"/>
            <a:ext cx="2157984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3711" y="2286000"/>
            <a:ext cx="2157984" cy="54864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3711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EFE6"/>
                </a:solidFill>
                <a:latin typeface="Times-Bold"/>
              </a:rPr>
              <a:t>LISBON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3711" y="306324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3A2E"/>
                </a:solidFill>
                <a:latin typeface="Times-Bold"/>
              </a:rPr>
              <a:t>€345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3711" y="3566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85F31"/>
                </a:solidFill>
                <a:latin typeface="Helvetica"/>
              </a:rPr>
              <a:t>3 nights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3711" y="37947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voli + hotel inclusi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70567" y="2286000"/>
            <a:ext cx="2157984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70567" y="2286000"/>
            <a:ext cx="2157984" cy="54864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70567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EFE6"/>
                </a:solidFill>
                <a:latin typeface="Times-Bold"/>
              </a:rPr>
              <a:t>PRAGUE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0567" y="306324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3A2E"/>
                </a:solidFill>
                <a:latin typeface="Times-Bold"/>
              </a:rPr>
              <a:t>€295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0567" y="3566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85F31"/>
                </a:solidFill>
                <a:latin typeface="Helvetica"/>
              </a:rPr>
              <a:t>2 nights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0567" y="37947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voli + hotel inclusi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LIVE — DESTINATION GRID ON HOMEPAGE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6231" y="4535424"/>
            <a:ext cx="2999232" cy="190195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destinations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4572000"/>
            <a:ext cx="2926080" cy="1828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13  /  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COUPON MECHANIC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BB50 — built for lead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Not a race-to-the-bottom price cut · enough to activate, not enough to destroy margin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7642"/>
                </a:solidFill>
                <a:latin typeface="Helvetica"/>
              </a:rPr>
              <a:t>THE MECHANIC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0" i="0">
                <a:solidFill>
                  <a:srgbClr val="F5EFE6"/>
                </a:solidFill>
                <a:latin typeface="Times-Bold"/>
              </a:rPr>
              <a:t>€50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5EFE6"/>
                </a:solidFill>
                <a:latin typeface="Helvetica"/>
              </a:rPr>
              <a:t>off bookings from €300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D97642"/>
                </a:solidFill>
                <a:latin typeface="Helvetica"/>
              </a:rPr>
              <a:t>Code: BB50 · Valid 90 days · One per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97642"/>
                </a:solidFill>
                <a:latin typeface="Helvetica"/>
              </a:rPr>
              <a:t>MIN BASKET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303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3A2E"/>
                </a:solidFill>
                <a:latin typeface="Helvetica"/>
              </a:rPr>
              <a:t>€300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Industry avg in IT travel = €322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97642"/>
                </a:solidFill>
                <a:latin typeface="Helvetica"/>
              </a:rPr>
              <a:t>DISCOUNT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52303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3A2E"/>
                </a:solidFill>
                <a:latin typeface="Helvetica"/>
              </a:rPr>
              <a:t>16.7%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5852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Below the 20% margin alarm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97642"/>
                </a:solidFill>
                <a:latin typeface="Helvetica"/>
              </a:rPr>
              <a:t>VALIDITY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52303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3A2E"/>
                </a:solidFill>
                <a:latin typeface="Helvetica"/>
              </a:rPr>
              <a:t>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5852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Long enough to plan; short enough to urge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97642"/>
                </a:solidFill>
                <a:latin typeface="Helvetica"/>
              </a:rPr>
              <a:t>BLACKOUT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52303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3A2E"/>
                </a:solidFill>
                <a:latin typeface="Helvetica"/>
              </a:rPr>
              <a:t>23 Dec – 2 Jan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3A2E"/>
                </a:solidFill>
                <a:latin typeface="Helvetica"/>
              </a:rPr>
              <a:t>10–20 Aug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5852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A6B62"/>
                </a:solidFill>
                <a:latin typeface="Helvetica"/>
              </a:rPr>
              <a:t>High-demand windows excluded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14  /  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THE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From paid impression to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Six stages · each one a measured event · each one a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307" y="2743200"/>
            <a:ext cx="1783080" cy="18288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307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97642"/>
                </a:solidFill>
                <a:latin typeface="Helvetica"/>
              </a:rPr>
              <a:t>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" y="33375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EFE6"/>
                </a:solidFill>
                <a:latin typeface="Times-Bold"/>
              </a:rPr>
              <a:t>150–180k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" y="3977639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F5EFE6"/>
                </a:solidFill>
                <a:latin typeface="Helvetica"/>
              </a:rPr>
              <a:t>Meta + Google Ads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23947" y="3520440"/>
            <a:ext cx="22860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1107" y="2743200"/>
            <a:ext cx="1783080" cy="18288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1107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97642"/>
                </a:solidFill>
                <a:latin typeface="Helvetica"/>
              </a:rPr>
              <a:t>CLICKS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1107" y="33375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EFE6"/>
                </a:solidFill>
                <a:latin typeface="Times-Bold"/>
              </a:rPr>
              <a:t>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1107" y="3977639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F5EFE6"/>
                </a:solidFill>
                <a:latin typeface="Helvetica"/>
              </a:rPr>
              <a:t>CPC ~€0.40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52747" y="3520440"/>
            <a:ext cx="22860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9907" y="2743200"/>
            <a:ext cx="1783080" cy="182880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9907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97642"/>
                </a:solidFill>
                <a:latin typeface="Helvetica"/>
              </a:rPr>
              <a:t>FORM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9907" y="33375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EFE6"/>
                </a:solidFill>
                <a:latin typeface="Times-Bold"/>
              </a:rPr>
              <a:t>1,500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9907" y="3977639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F5EFE6"/>
                </a:solidFill>
                <a:latin typeface="Helvetica"/>
              </a:rPr>
              <a:t>30% scroll-to-form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1547" y="3520440"/>
            <a:ext cx="22860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8707" y="2743200"/>
            <a:ext cx="1783080" cy="1828800"/>
          </a:xfrm>
          <a:prstGeom prst="rect">
            <a:avLst/>
          </a:prstGeom>
          <a:solidFill>
            <a:srgbClr val="B85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8707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97642"/>
                </a:solidFill>
                <a:latin typeface="Helvetica"/>
              </a:rPr>
              <a:t>FORM SUBMITS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8707" y="33375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EFE6"/>
                </a:solidFill>
                <a:latin typeface="Times-Bold"/>
              </a:rPr>
              <a:t>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8707" y="3977639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F5EFE6"/>
                </a:solidFill>
                <a:latin typeface="Helvetica"/>
              </a:rPr>
              <a:t>★ Key Event · €50/lead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10347" y="3520440"/>
            <a:ext cx="22860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47507" y="2743200"/>
            <a:ext cx="1783080" cy="1828800"/>
          </a:xfrm>
          <a:prstGeom prst="rect">
            <a:avLst/>
          </a:prstGeom>
          <a:solidFill>
            <a:srgbClr val="B85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7507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97642"/>
                </a:solidFill>
                <a:latin typeface="Helvetica"/>
              </a:rPr>
              <a:t>COUPON DOWNLOADS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7507" y="33375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EFE6"/>
                </a:solidFill>
                <a:latin typeface="Times-Bold"/>
              </a:rPr>
              <a:t>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47507" y="3977639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F5EFE6"/>
                </a:solidFill>
                <a:latin typeface="Helvetica"/>
              </a:rPr>
              <a:t>★ Key Event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639147" y="3520440"/>
            <a:ext cx="22860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76307" y="2743200"/>
            <a:ext cx="1783080" cy="182880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6307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97642"/>
                </a:solidFill>
                <a:latin typeface="Helvetica"/>
              </a:rPr>
              <a:t>BOOKINGS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6307" y="33375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EFE6"/>
                </a:solidFill>
                <a:latin typeface="Times-Bold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6307" y="3977639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F5EFE6"/>
                </a:solidFill>
                <a:latin typeface="Helvetica"/>
              </a:rPr>
              <a:t>10% lead-to-book · €322 AOV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B62"/>
                </a:solidFill>
                <a:latin typeface="Helvetica"/>
              </a:rPr>
              <a:t>Conversion rates: Click→FormView 30% · FormView→Submit 20% · Submit→Coupon 133% (incl. /grazie repeats) · Lead→Booking 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Helvetica"/>
              </a:rPr>
              <a:t>Result: €2,000 spend · 30 bookings · €322 AOV → €9,660 revenue → 4.83x ROAS (gross), 1.8x net of supply cost.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15  /  54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Live landing page · responsive · destination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LANDING PAGE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Single-purpose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One job: get the user to download the BB50 coupon · 11 sections, 1 conversion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Sticky 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042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Wordmark · Destinations · How it works · Blog · Coupon CTA · EN/IT toggle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1" y="2286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3042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Eyebrow · headline · sub · dual CTA · countdown timer · destination mosaic bg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Value props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44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4 pillars: curated · transparent · authentic · 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Destinations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944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5 cards · price · nights · hover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Comparison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584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BB&amp;B vs OTAs (Booking, Expedia)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584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3 steps: pick · book · 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06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Testimonials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22452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Quote carousel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1" y="4206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Social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22452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4-stat strip: travellers · destinations · 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46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FAQ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646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6 questions · accordion · tracked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1" y="4846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4846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Lead 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48646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Name · email · departure · interest · consent · BB50 magnet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Times-Bold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Newsletter footer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5046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Tuesday weekly deal · separate from coupon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A6B62"/>
                </a:solidFill>
                <a:latin typeface="Helvetica"/>
              </a:rPr>
              <a:t>Built on Next.js 14 (App Router) + TypeScript + Tailwind. Deployed on Vercel · sub-1s LCP · responsive.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17  /  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HOMEPAGE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Above the 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Dual CTA · countdown · destination mosaic · social proof eyebrow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0583" y="2157984"/>
            <a:ext cx="6510528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159" y="21945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18  /  54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FULL 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All 11 sections of the landing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backpack-bottle.vercel.app · scroll-aware sticky CTA · Italian primary</a:t>
            </a:r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334" y="2194560"/>
            <a:ext cx="837026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19  /  54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MOBILE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375px viewport · iPhone-class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68% of Italian millennial sessions are mobile · same dataLayer events fire on every device</a:t>
            </a:r>
          </a:p>
        </p:txBody>
      </p:sp>
      <p:pic>
        <p:nvPicPr>
          <p:cNvPr id="7" name="Picture 6" descr="hom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693" y="2194560"/>
            <a:ext cx="1900307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20  /  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DESTINATION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/destinazioni/lisbon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Each city has its own page: 3-day itinerary, neighbourhoods, food, FAQ, weather, budget tip · IT + 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8739" y="2157984"/>
            <a:ext cx="1374216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st-lis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15" y="2194560"/>
            <a:ext cx="1301064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21  /  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Tracking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GTM · GA4 · dataLayer · Marica's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THE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Six layers · 27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User journey: ad → site → form → coupon → email → booking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solidFill>
            <a:srgbClr val="E8E0D0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828800" cy="64008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01 ·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users arrive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3682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4048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Meta Ads (60%)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3682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24048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Google Ads (40%)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23682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4048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Organic SEO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3682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4048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Newsletter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80360"/>
            <a:ext cx="11091672" cy="640080"/>
          </a:xfrm>
          <a:prstGeom prst="rect">
            <a:avLst/>
          </a:prstGeom>
          <a:solidFill>
            <a:srgbClr val="E8E0D0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80360"/>
            <a:ext cx="1828800" cy="64008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35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02 ·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729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What they see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3054096"/>
            <a:ext cx="1476756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87752" y="3090672"/>
            <a:ext cx="13395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Next.js 14 / Vercel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2796" y="30540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5948" y="30906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IT/EN toggle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54396" y="30540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7548" y="30906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MS Clarity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5996" y="30540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9148" y="30906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Exit-intent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7596" y="30540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0748" y="30906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WhatsApp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66160"/>
            <a:ext cx="11091672" cy="640080"/>
          </a:xfrm>
          <a:prstGeom prst="rect">
            <a:avLst/>
          </a:prstGeom>
          <a:solidFill>
            <a:srgbClr val="E8E0D0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566160"/>
            <a:ext cx="1828800" cy="6400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6393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03 · CONVERSION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8587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they 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37398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87752" y="37764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Lead form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37398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9352" y="37764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BB50 €50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37398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0952" y="37764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Countdown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7398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2552" y="37764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Sticky CTA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7398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4152" y="37764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/grazie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251960"/>
            <a:ext cx="11091672" cy="640080"/>
          </a:xfrm>
          <a:prstGeom prst="rect">
            <a:avLst/>
          </a:prstGeom>
          <a:solidFill>
            <a:srgbClr val="E8E0D0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251960"/>
            <a:ext cx="1828800" cy="640080"/>
          </a:xfrm>
          <a:prstGeom prst="rect">
            <a:avLst/>
          </a:prstGeom>
          <a:solidFill>
            <a:srgbClr val="B85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3251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04 · RETENTION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5445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they come 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4600" y="44256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87752" y="44622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Brevo ESP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86200" y="44256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59352" y="44622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Automation #23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7800" y="44256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30952" y="44622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UTM persistence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29400" y="44256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2552" y="44622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Meta CAPI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37760"/>
            <a:ext cx="11091672" cy="640080"/>
          </a:xfrm>
          <a:prstGeom prst="rect">
            <a:avLst/>
          </a:prstGeom>
          <a:solidFill>
            <a:srgbClr val="E8E0D0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4937760"/>
            <a:ext cx="1828800" cy="64008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0109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05 · MEASUREMENT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2303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we know it worked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14600" y="51114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87752" y="51480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GTM-KSN24TZ2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86200" y="51114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59352" y="51480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GA4 G-FHBQE8QZM9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57800" y="51114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30952" y="51480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Meta Pixel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29400" y="51114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02552" y="51480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Looker Studio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01000" y="51114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74152" y="51480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Consent v2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solidFill>
            <a:srgbClr val="E8E0D0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5623560"/>
            <a:ext cx="1828800" cy="640080"/>
          </a:xfrm>
          <a:prstGeom prst="rect">
            <a:avLst/>
          </a:prstGeom>
          <a:solidFill>
            <a:srgbClr val="5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6967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06 · INFRA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59161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Where it lives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14600" y="57972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87752" y="58338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Vercel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86200" y="57972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9352" y="58338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GitHub (public)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57800" y="579729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30952" y="58338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Next.js metadata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29400" y="5797296"/>
            <a:ext cx="1321308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02552" y="5833872"/>
            <a:ext cx="11841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GDPR + rate-limit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5A6B62"/>
                </a:solidFill>
                <a:latin typeface="Helvetica"/>
              </a:rPr>
              <a:t>All 27 components shipped. Single source of truth: window.dataLayer · all consent-gated.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23  /  54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TRACKING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One container. Every tag. Consent-aware.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How a single user click becomes 4 events in 4 different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286000"/>
            <a:ext cx="8686800" cy="365760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D97642"/>
                </a:solidFill>
                <a:latin typeface="Courier"/>
              </a:rPr>
              <a:t>USER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6148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5EFE6"/>
                </a:solidFill>
                <a:latin typeface="Helvetica"/>
              </a:rPr>
              <a:t>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54096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97642"/>
                </a:solidFill>
                <a:latin typeface="Helvetica"/>
              </a:rP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46704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EFE6"/>
                </a:solidFill>
                <a:latin typeface="Courier"/>
              </a:rPr>
              <a:t>dataLayer.push({event: 'coupon_download', value: 50, currency: 'EUR'})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3931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5EFE6"/>
                </a:solidFill>
                <a:latin typeface="Helvetica"/>
              </a:rPr>
              <a:t>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3192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97642"/>
                </a:solidFill>
                <a:latin typeface="Helvetica"/>
              </a:rP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2452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EFE6"/>
                </a:solidFill>
                <a:latin typeface="Courier"/>
              </a:rPr>
              <a:t>┌────────────┬─────────────┬───────────────┬──────────────┐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17136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EFE6"/>
                </a:solidFill>
                <a:latin typeface="Courier"/>
              </a:rPr>
              <a:t>│  GA4       │  Meta Pixel │  Meta CAPI    │  Google Ads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09744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EFE6"/>
                </a:solidFill>
                <a:latin typeface="Courier"/>
              </a:rPr>
              <a:t>│  events    │  Lead+CR    │  server-side  │  conversion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023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EFE6"/>
                </a:solidFill>
                <a:latin typeface="Courier"/>
              </a:rPr>
              <a:t>└────────────┴─────────────┴───────────────┴──────────────┘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949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D97642"/>
                </a:solidFill>
                <a:latin typeface="Courier"/>
              </a:rPr>
              <a:t>ALL GATED BY CONSENT MODE V2 ·  500ms wait_for_update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24  /  54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DATALAYER EVENT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31 events · 11 critical · 3 Key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Every interaction on the site becomes a structured dataLayer 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1091672" cy="3657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KEY EVENT?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1109167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page_view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51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Every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Acquisition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2651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16936"/>
            <a:ext cx="11091672" cy="310896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cta_click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626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Hero / Nav / Sticky CTA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626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Which CTA placement converts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9626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27832"/>
            <a:ext cx="1109167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735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form_view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273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Form 40% in viewport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735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Funnel impression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2735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38728"/>
            <a:ext cx="11091672" cy="310896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844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form_start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584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First field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5844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Intent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5844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49624"/>
            <a:ext cx="1109167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8953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form_submit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8953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Server confirms ok=true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89534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Lead conversion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8953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★ 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60520"/>
            <a:ext cx="11091672" cy="310896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coupon_download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206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/grazie + PDF link click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€50 value goal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4206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★ 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71416"/>
            <a:ext cx="1109167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171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thank_you_view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45171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/grazie page mount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5171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Server-confirm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5171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★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782312"/>
            <a:ext cx="11091672" cy="310896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8280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destination_card_click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8280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City card click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8280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destination_interest custom dim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4828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093208"/>
            <a:ext cx="1109167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1389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scroll_75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51389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75% scroll depth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1389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Engagement quality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51389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404104"/>
            <a:ext cx="11091672" cy="310896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4498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rage_click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54498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≥3 same coords &lt;1s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4498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UX defect detector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54498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715000"/>
            <a:ext cx="1109167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760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consent_choice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60" y="5760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Accept/Reject click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760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GDPR audit trail (NEW)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0" y="5760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6025896"/>
            <a:ext cx="11091672" cy="310896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607161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5F31"/>
                </a:solidFill>
                <a:latin typeface="Courier"/>
              </a:rPr>
              <a:t>consent_update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8960" y="607161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Cookie banner choice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607161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Consent Mode v2 state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716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+ 19 more events instrumented · full schema at backpack-bottle.vercel.app/measurement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25  /  54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GTM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GTM-KSN24TZ2 · published 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17 tags · 22 triggers · 17 variables · imported via JSON, not click-by-click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0583" y="2157984"/>
            <a:ext cx="6510528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159" y="21945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26  /  54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GA4 REALTIME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G-FHBQE8QZM9 · 5 custom dims · 3 Key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Events flow within 30 seconds of any interaction · debug-mode confirmed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0583" y="2157984"/>
            <a:ext cx="6510528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159" y="21945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27  /  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/MEASUREMENT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Every event documented on the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KPI tree · dataLayer schema · custom dims · Consent Mode v2 audit · attribution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6999" y="2157984"/>
            <a:ext cx="1417695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as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575" y="2194560"/>
            <a:ext cx="1344543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28  /  54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Consent Mode v2 · cookie tracking · GDPR · Alberto's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CONSENT MODE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Default-denied. Privacy-first. Audit-ready.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Required for any site serving EU traffic · compliant with GDPR + ePrivacy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Before GTM loads, gtag('consent','default',...) sets all four signals to denied.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Cookie banner asks the user. On Accept → consent_update with all granted.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75887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On Reject → stays denied; GA4 receives consent-modeled pings (no cookies).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7880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500ms wait_for_update prevents tags from firing before consent is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7642"/>
                </a:solidFill>
                <a:latin typeface="Helvetica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8172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3A2E"/>
                </a:solidFill>
                <a:latin typeface="Helvetica"/>
              </a:rPr>
              <a:t>Audit trail: every consent_update + consent_choice event stored in GA4.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194560"/>
            <a:ext cx="5212080" cy="402336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D97642"/>
                </a:solidFill>
                <a:latin typeface="Courier"/>
              </a:rPr>
              <a:t>components/GTM.tsx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060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gtag('consent', 'default',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346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ad_storage:        'denied',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63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analytics_storage: 'denied',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2918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ad_user_data:      'denied',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5204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ad_personalization:'denied',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749039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wait_for_update: 500,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});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06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4348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// on user click in CookieBanner: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6634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gtag('consent', 'update',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8920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ad_storage:        'granted',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1206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analytics_storage: 'granted',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349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ad_user_data:      'granted',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5778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ad_personalization:'granted',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8064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});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30  /  54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COOKIE CONSENT — MEASURED, NOT JUST ENFORCED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Every Accept and Reject click is a tracked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consent_choice fires alongside consent_update · dashboard shows Accept-rate vs Reject-rate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WHAT WE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>1. consent_update — sets the four Consent Mode v2 signals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>    (Google's spec · required for compliant tag firing)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>2. consent_choice — discrete event with two params: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>    consent_choice = 'accept' | 'reject'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>    consent_locale = 'it' | 'en'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>GTM forwards consent_choice to GA4 as a key event.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3A2E"/>
                </a:solidFill>
                <a:latin typeface="Helvetica"/>
              </a:rPr>
              <a:t>Looker Studio shows real-time Accept-rate vs Reject-rate.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INDUSTRY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Accept rate (EU)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532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~62%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Reject rate (EU)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806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~28%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59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Banner-ignored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6080759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~10%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194560"/>
            <a:ext cx="5212080" cy="402336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D97642"/>
                </a:solidFill>
                <a:latin typeface="Courier"/>
              </a:rPr>
              <a:t>components/CookieBanner.tsx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060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function decide(granted: boolean)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8346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localStorage.setItem('bb_consent',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063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  granted ? 'granted' : 'denied');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918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pushConsent(granted);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204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749039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// Discrete tracked event: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77639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dataLayer.push({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206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  event: 'consent_choice',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4348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  consent_choice: granted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    ? 'accept' : 'reject',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8920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  consent_locale: locale,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1206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});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349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778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  setShow(false);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8064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Courier"/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31  /  54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/PRIVACY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GDPR + cookie + coupon T&amp;Cs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Seven sections · Italian + English · audit-ready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5225" y="2157984"/>
            <a:ext cx="3461244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801" y="2194560"/>
            <a:ext cx="3388092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32  /  54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Email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Brevo · welcome series · Ceci + Marilu's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LEAD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Form → API → Brevo (parallel fan-out)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Sub-200ms server response · 3 systems updated in parallel · then automation fires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68880"/>
            <a:ext cx="2377440" cy="13716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EFE6"/>
                </a:solidFill>
                <a:latin typeface="Helvetica"/>
              </a:rPr>
              <a:t>Form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F5EFE6"/>
                </a:solidFill>
                <a:latin typeface="Helvetica"/>
              </a:rPr>
              <a:t>User clicks 'Get €50'
on backpack-bottle.vercel.app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3017520"/>
            <a:ext cx="36576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468880"/>
            <a:ext cx="2377440" cy="137160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EFE6"/>
                </a:solidFill>
                <a:latin typeface="Helvetica"/>
              </a:rPr>
              <a:t>POST /api/lead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089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F5EFE6"/>
                </a:solidFill>
                <a:latin typeface="Helvetica"/>
              </a:rPr>
              <a:t>Server validates email
rate-limits 5/min/IP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3017520"/>
            <a:ext cx="36576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468880"/>
            <a:ext cx="2377440" cy="137160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EFE6"/>
                </a:solidFill>
                <a:latin typeface="Helvetica"/>
              </a:rPr>
              <a:t>Promise.all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089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F5EFE6"/>
                </a:solidFill>
                <a:latin typeface="Helvetica"/>
              </a:rPr>
              <a:t>3 fan-outs in parallel: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78240" y="3017520"/>
            <a:ext cx="365760" cy="274320"/>
          </a:xfrm>
          <a:prstGeom prst="rightArrow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468880"/>
            <a:ext cx="2377440" cy="1371600"/>
          </a:xfrm>
          <a:prstGeom prst="rect">
            <a:avLst/>
          </a:prstGeom>
          <a:solidFill>
            <a:srgbClr val="B85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651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EFE6"/>
                </a:solidFill>
                <a:latin typeface="Helvetica"/>
              </a:rPr>
              <a:t>Returns ok:true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1089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F5EFE6"/>
                </a:solidFill>
                <a:latin typeface="Helvetica"/>
              </a:rPr>
              <a:t>Client redirects to /grazie
fires Key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11091672" cy="18288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PARALLEL FAN-OUT (Promise.all)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Brevo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F3A2E"/>
                </a:solidFill>
                <a:latin typeface="Courier"/>
              </a:rPr>
              <a:t>POST /v3/contacts → list 13 with 7 attributes
updateEnabled:true (idempotent)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800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Meta CAPI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07492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F3A2E"/>
                </a:solidFill>
                <a:latin typeface="Courier"/>
              </a:rPr>
              <a:t>POST graph.facebook.com/v18.0/{pixel}/events
Lead event · SHA-256 email · fbp/fbc cookies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800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Webhook (optional)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07492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F3A2E"/>
                </a:solidFill>
                <a:latin typeface="Courier"/>
              </a:rPr>
              <a:t>POST $LEAD_WEBHOOK_URL
for Zapier / Sheets / Slack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34  /  54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BREVO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List 'backpackandbottle' · ID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Master list · all form submissions · trigger for Automation #23 · 40 templates 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0583" y="2157984"/>
            <a:ext cx="6510528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159" y="21945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35  /  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8-EMAIL WELCOME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Automation #23 · BB50 Welcome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Triggers when contact lands in list 13 · personalised by destination · IT/EN by locale attribute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317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Coupon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060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Il tuo coupon BB50 è arrivato 🎒🍷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1" y="224028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1" y="224028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23317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697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T+1d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1" y="23317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Brand intro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1" y="26060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Perché Backpack &amp; Bottle?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T+3d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3375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Destination 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6118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[Personalised: Lisbona / Roma / ...]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324612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324612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1" y="33375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37033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T+7d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1" y="33375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Booking psychology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1" y="36118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Quando prenotare il volo (dati 2026)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5196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25196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091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T+14d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343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Social proof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6177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Le 3 città più richieste questa settimana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1" y="425196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1" y="425196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1" y="43434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1" y="47091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T+30d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1" y="4343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Soft reminder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9751" y="46177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Hai ancora 60 giorni per usare BB50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25780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25780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349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7150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T+60d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53492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Expiry warning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56235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Il tuo coupon BB50 scade tra 30 giorni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1" y="5257800"/>
            <a:ext cx="5440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9631" y="5257800"/>
            <a:ext cx="777240" cy="86868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1" y="5349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EFE6"/>
                </a:solidFill>
                <a:latin typeface="Times-Bold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1" y="57150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EFE6"/>
                </a:solidFill>
                <a:latin typeface="Helvetica"/>
              </a:rPr>
              <a:t>T+83d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9751" y="53492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Final urgency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9751" y="56235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3A2E"/>
                </a:solidFill>
                <a:latin typeface="Helvetica"/>
              </a:rPr>
              <a:t>Ultimi 7 giorni per il tuo €50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36  /  54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Media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€2,000 · 60% Meta · 40% Google · 6-week ramp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MEDIA PLAN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Where the €2,000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Two channels · one job each · Meta drives discovery, Google captures intent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6766560" cy="40233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7642"/>
                </a:solidFill>
                <a:latin typeface="Helvetica"/>
              </a:rPr>
              <a:t>META ADS · 60% · €1,200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F5EFE6"/>
                </a:solidFill>
                <a:latin typeface="Times-Bold"/>
              </a:rPr>
              <a:t>Discovery + retargeting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7490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6"/>
                </a:solidFill>
                <a:latin typeface="Courier"/>
              </a:rPr>
              <a:t>€300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5EFE6"/>
                </a:solidFill>
                <a:latin typeface="Helvetica"/>
              </a:rPr>
              <a:t>Carousel ads · broad reach · 25–39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Lead 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52627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6"/>
                </a:solidFill>
                <a:latin typeface="Courier"/>
              </a:rPr>
              <a:t>€600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5EFE6"/>
                </a:solidFill>
                <a:latin typeface="Helvetica"/>
              </a:rPr>
              <a:t>Conversion-optimised · interest targeting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Retargeting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303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6"/>
                </a:solidFill>
                <a:latin typeface="Courier"/>
              </a:rPr>
              <a:t>€300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961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5EFE6"/>
                </a:solidFill>
                <a:latin typeface="Helvetica"/>
              </a:rPr>
              <a:t>DPA · 30-day window · /destinazioni viewers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286000"/>
            <a:ext cx="4114800" cy="402336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514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7642"/>
                </a:solidFill>
                <a:latin typeface="Helvetica"/>
              </a:rPr>
              <a:t>GOOGLE ADS · 40% · €800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9260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F3A2E"/>
                </a:solidFill>
                <a:latin typeface="Times-Bold"/>
              </a:rPr>
              <a:t>Active intent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4903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Branded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490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Courier"/>
              </a:rPr>
              <a:t>€200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041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F3A2E"/>
                </a:solidFill>
                <a:latin typeface="Helvetica"/>
              </a:rPr>
              <a:t>Defend 'backpack &amp; bottle' searches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52627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Generic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52627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Courier"/>
              </a:rPr>
              <a:t>€480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18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F3A2E"/>
                </a:solidFill>
                <a:latin typeface="Helvetica"/>
              </a:rPr>
              <a:t>'weekend a Lisbona', 'voli + hotel'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303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Competitor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303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Courier"/>
              </a:rPr>
              <a:t>€120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5961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F3A2E"/>
                </a:solidFill>
                <a:latin typeface="Helvetica"/>
              </a:rPr>
              <a:t>'volagratis', 'edreams' bidding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38  /  54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BUDGET PACING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€2,000 across 6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Front-loaded for discovery · scaled into peak booking-decision window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377440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PROJECTED LEADS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1091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W1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70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May 5–11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770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70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770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€300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816352"/>
            <a:ext cx="940525" cy="164592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13125" y="2770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1672" cy="4572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W2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227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May 12–18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227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227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227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€380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3273552"/>
            <a:ext cx="1598893" cy="164592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1493" y="3227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51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66160"/>
            <a:ext cx="11091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657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W3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685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May 19–25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685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€240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685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3685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€400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730752"/>
            <a:ext cx="2131858" cy="164592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04458" y="3685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68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23360"/>
            <a:ext cx="11091672" cy="4572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W4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1422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May 26–Jun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1422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€220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1422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41422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€380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187952"/>
            <a:ext cx="2006454" cy="164592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79054" y="4142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64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80560"/>
            <a:ext cx="11091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572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W5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45994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Jun 2–8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€320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645152"/>
            <a:ext cx="1598893" cy="164592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1493" y="4599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029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W6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54480" y="5056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Jun 9–15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5056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5056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Courier"/>
              </a:rPr>
              <a:t>€100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5056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Courier"/>
              </a:rPr>
              <a:t>€220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5102352"/>
            <a:ext cx="1128630" cy="164592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1230" y="5056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36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486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TOTAL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0" y="5513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Courier"/>
              </a:rPr>
              <a:t>€1200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0" y="5513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Courier"/>
              </a:rPr>
              <a:t>€800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0" y="5513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Courier"/>
              </a:rPr>
              <a:t>€2000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5513832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300 leads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39  /  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KPIs &amp;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Funnel targets · Looker Studio · Amelia's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KPI TREE &amp;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8 metrics · ladder from sessions to 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Targets derived from €2,000 spend × 60/40 channel split × Italian travel benchmarks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77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TARGET (6w)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4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Top of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GA4 Acquisition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11091672" cy="41148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Mid funnel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54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Form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1,500 (30%)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5468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form_view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Mid funnel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566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Form starts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566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750 (50%)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6616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form_start event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86200"/>
            <a:ext cx="11091672" cy="41148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776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Bottom 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9776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Leads (form_submit)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977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300 (40%)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977639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★ Key Event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9768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89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Bottom funnel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389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Coupon downloads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3891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★ Key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09160"/>
            <a:ext cx="11091672" cy="41148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00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Post-campaign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800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Bookings (offline)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800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0060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Brevo → GA4 import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12064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2120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Efficiency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21207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CPL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2120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€6.67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212079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Spend ÷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62355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Efficiency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56235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ROAS (proj)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6235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F31"/>
                </a:solidFill>
                <a:latin typeface="Times-Bold"/>
              </a:rPr>
              <a:t>1.8x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623559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AOV €322 × bookings ÷ spend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41  /  54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LOOKER STUDIO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Single-page exec view · refreshes every 12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What we look at every morning during the campaign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9418320" cy="2926080"/>
          </a:xfrm>
          <a:prstGeom prst="rect">
            <a:avLst/>
          </a:prstGeom>
          <a:solidFill>
            <a:srgbClr val="E8E0D0"/>
          </a:solidFill>
          <a:ln w="25400"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5A6B62"/>
                </a:solidFill>
                <a:latin typeface="Helvetica"/>
              </a:rPr>
              <a:t>[ Live dashboard screenshot to be inserted on launch day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3A2E"/>
                </a:solidFill>
                <a:latin typeface="Helvetica"/>
              </a:rPr>
              <a:t>Built in Looker Studio · 6 panels · refreshes every 12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458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3A2E"/>
                </a:solidFill>
                <a:latin typeface="Helvetica"/>
              </a:rPr>
              <a:t>Sessions, users by source/medium · weekly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1" y="5458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3A2E"/>
                </a:solidFill>
                <a:latin typeface="Helvetica"/>
              </a:rPr>
              <a:t>Sessions → form_submit → coupon · drop-off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0344" y="5458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3A2E"/>
                </a:solidFill>
                <a:latin typeface="Helvetica"/>
              </a:rPr>
              <a:t>Spend, CPM, CPC, CTR, CPL by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961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3A2E"/>
                </a:solidFill>
                <a:latin typeface="Helvetica"/>
              </a:rPr>
              <a:t>Geo (IT regions), device, locale (it/en)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5943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1" y="5961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3A2E"/>
                </a:solidFill>
                <a:latin typeface="Helvetica"/>
              </a:rPr>
              <a:t>Avg session, scroll_75%, engaged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5943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COUPON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5961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3A2E"/>
                </a:solidFill>
                <a:latin typeface="Helvetica"/>
              </a:rPr>
              <a:t>Downloads by destination_interest custom dim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42  /  54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A/B test · competitors ·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A/B TEST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Day-1 hypothesis · hero CTA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Test what matters most: the headline that gets the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3A2E"/>
                </a:solidFill>
                <a:latin typeface="Helvetica"/>
              </a:rPr>
              <a:t>An emotional hero CTA ('Discover your weekend') will out-convert a transactional one ('Get your €50 coupon') for cold awareness audiences. Italian millennials respond to aspiration over discount when not yet brand-aware.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5486400" cy="128016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VARIANT A ·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Times-Bold"/>
              </a:rPr>
              <a:t>"Get your €50 coupon →"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Transactional · current production copy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3657600"/>
            <a:ext cx="5486400" cy="128016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7490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VARIANT B · CHALLENGER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023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Times-Bold"/>
              </a:rPr>
              <a:t>"Discover your next weekend →"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Emotional · for cold awareness audiences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DECISION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Primary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486400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form_submit conversion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967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Sample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5696712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~750 sessions per variant (3% baseline · 20% MDE · 95% confidence)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07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Test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907024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10–14 days (covers weekday + weekend behaviour)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1173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117336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Ship winner if uplift ≥15% with p&lt;0.05; else keep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44  /  54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COMPETITOR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Italian travel sector · CPL, CTR,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What we're up against · why our targets are realistic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515600" cy="3657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COMPETITOR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CPL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LEAD MAGNET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OUR 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980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Helvetica"/>
              </a:rPr>
              <a:t>Volagratis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Cheapest flights, no curation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98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€11.20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98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Newsletter signup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We curate; they don't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10515600" cy="50292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00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Helvetica"/>
              </a:rPr>
              <a:t>eDreams Prime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Membership flight discounts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300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€9.50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300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Free Prime 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No subscription friction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57600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8039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Helvetica"/>
              </a:rPr>
              <a:t>Lastminute.com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Last-minute travel deals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03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€8.30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803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2.4%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App download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We're early-booking, not last-minute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60520"/>
            <a:ext cx="10515600" cy="5029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068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BACKPACK &amp; BOTTLE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Curated · transparent · early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3068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€6.67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3068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2.7% (proj)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BB50 €50 coupon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First IT to combine all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2120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A6B62"/>
                </a:solidFill>
                <a:latin typeface="Helvetica"/>
              </a:rPr>
              <a:t>Source: WordStream travel benchmarks 2025 · SimilarWeb traffic data · Italy-localised CPC estimates from Google Keyword Planner. Our projected CPL of €6.67 is ~30% better than the closest competitor (Lastminute) — driven by tighter audience targeting (IT millennials only) and a higher-value lead magnet (€50 coupon vs. newsletter signup).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45  /  54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ACCESSIBILITY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WCAG 2.1 AA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6 PASS · 3 PARTIAL · documented fixes · screen-reader friendly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Color contrast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500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Forest on cream = 12.4:1 (AAA) · Burnt on cream = 4.6:1 (AA)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23591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Heading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07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Single h1 per page · h2/h3 cascade · semantic &lt;nav&gt;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8163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Alt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264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All images alt'd · decorative use aria-hidden=true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3273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03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Form labels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721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All 5 fields labelled · could improve aria-required=true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7307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Keyboard nav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178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Tab traversal works · sticky CTA may need skip-link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41879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17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Cookie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6360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Dismissible via Escape · should announce as aria-live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46451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Focus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093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Default focus rings preserved · visible everywhere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51023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86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532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Lang attribute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html lang='it' set · alternate hreflang for /?lang=en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5559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Tooling: Manual code review + axe-core DevTools. Fixes shipped to v2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46  /  54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Vercel · GitHub · live URLs · what we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VERCEL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Auto-deploy on every push to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12 deployments · all READY · sub-40 second build · public production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0583" y="2157984"/>
            <a:ext cx="6510528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159" y="21945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48  /  54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Public · every commit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Configuration as code: site, GTM JSON, briefings, Brevo templates · all in one 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9466" y="2157984"/>
            <a:ext cx="1892762" cy="4096512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hub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042" y="2194560"/>
            <a:ext cx="181961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49  /  54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WHAT WE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Beyond 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Every brief requirement met · plus the infrastructure to launch tomorrow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Live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Next.js + Vercel · backpack-bottle.vercel.app ·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1" y="2286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3042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Brand identity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Wordmark · 6-color palette · Fraunces + Inter · voice guidelines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98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5 destinations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7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Rome · Barcelona · Amsterdam · Lisbon · Prague · individual landing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880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898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BB50 coupon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292607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Branded PDF · €50 off · 90 days ·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930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Lead form +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204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Server-side validation · rate-limited · Brevo + Meta CAPI fan-out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474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4930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Brevo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5204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List 13 · 8-email welcome series · 7 personalisation attributes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69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87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114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GTM container live · 17 tags · 22 triggers · GA4 receiving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4069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087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4114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Consent Mode v2 · cookie tracking · GDPR privacy + T&amp;Cs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663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68172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3 SEO blog posts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70915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/blog · IT + EN · long-form · internal linking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1" y="4663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68172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Measurement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470915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/measurement live · KPI tree · attribution model · audit-ready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Stack page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3035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/stack · 6-layer architecture · live + browseable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1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Looker Studio (mock)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53035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/dashboard · 6 panels · projection ready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50  /  54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WHERE TO FIND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Live URLs · public · shareable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Bookmark these · they all work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1" y="228600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3591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Hero / homepage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5603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Destination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54679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backpack-bottle.vercel.app/destinazioni/lisbon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1" y="288036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953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Thank-you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154679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backpack-bottle.vercel.app/grazie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Privacy &amp; T&amp;Cs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backpack-bottle.vercel.app/privacy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1" y="347472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547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Blog (3 posts)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749039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backpack-bottle.vercel.app/blog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42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Measurement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backpack-bottle.vercel.app/measurement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1" y="406908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142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Stack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3434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backpack-bottle.vercel.app/stack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36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Looker mock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37759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1" y="466344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736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GitHub repo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937759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github.com/saikanagat1117-sys/backpack-bottle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25780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3309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Sitemap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321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backpack-bottle.vercel.app/sitemap.xml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1" y="5257800"/>
            <a:ext cx="5440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53309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Coupon 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5321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Courier"/>
              </a:rPr>
              <a:t>backpack-bottle.vercel.app/backpack-bottle-coupon-BB50.pdf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51  /  54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D97642"/>
                </a:solidFill>
                <a:latin typeface="Times-Bold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5EFE6"/>
                </a:solidFill>
                <a:latin typeface="Times-Bold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642"/>
                </a:solidFill>
                <a:latin typeface="Helvetica"/>
              </a:rPr>
              <a:t>Risks · what's next ·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What could go wrong · what we'd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B62"/>
                </a:solidFill>
                <a:latin typeface="Helvetica"/>
              </a:rPr>
              <a:t>Honest about uncertainty · plans on the shelf for each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40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37160" cy="128016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23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Meta CPMs 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3A2E"/>
                </a:solidFill>
                <a:latin typeface="Helvetica"/>
              </a:rPr>
              <a:t>Italian travel CPMs rose 22% in 2025 summer. If they spike again, we shift budget to retargeting (lower CPM) and reduce broad awareness.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1" y="2286000"/>
            <a:ext cx="5440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1" y="2286000"/>
            <a:ext cx="137160" cy="128016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2423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Form conversion below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274320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3A2E"/>
                </a:solidFill>
                <a:latin typeface="Helvetica"/>
              </a:rPr>
              <a:t>If form_submit &lt; 5% by week 2, drop the 'departure city' field (cuts to 4 fields). A/B variant B (emotional CTA) moves to 100%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40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137160" cy="128016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Brevo deliverability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16052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3A2E"/>
                </a:solidFill>
                <a:latin typeface="Helvetica"/>
              </a:rPr>
              <a:t>Free tier with new sender domain. If open rate &lt;20%, we warm-up with 100 contacts before the campaign opens, then ramp.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1" y="3703320"/>
            <a:ext cx="5440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1" y="3703320"/>
            <a:ext cx="137160" cy="128016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iOS 14+ attribution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416052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3A2E"/>
                </a:solidFill>
                <a:latin typeface="Helvetica"/>
              </a:rPr>
              <a:t>Already mitigated: Meta CAPI server-side mirror covers ~30% of attribution that client-side Pixel misses.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5440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137160" cy="128016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Coupon abuse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3A2E"/>
                </a:solidFill>
                <a:latin typeface="Helvetica"/>
              </a:rPr>
              <a:t>BB50 has min basket €300 + one-per-customer enforcement (Brevo dedupe by email + IP). Risk is low but monitored daily.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1" y="5120640"/>
            <a:ext cx="54406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1" y="5120640"/>
            <a:ext cx="137160" cy="128016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1" y="5257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Google Ads policy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55778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3A2E"/>
                </a:solidFill>
                <a:latin typeface="Helvetica"/>
              </a:rPr>
              <a:t>Travel + competitor bidding can trigger reviews. Pre-flight ad copy through policy checker, hold backup ad sets.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B62"/>
                </a:solidFill>
                <a:latin typeface="Helvetica"/>
              </a:rPr>
              <a:t>53  /  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0" i="0">
                <a:solidFill>
                  <a:srgbClr val="F5EFE6"/>
                </a:solidFill>
                <a:latin typeface="Times-Bold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D97642"/>
                </a:solidFill>
                <a:latin typeface="Times-Bold"/>
              </a:rPr>
              <a:t>Skip the research fatigue.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GROUP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FE6"/>
                </a:solidFill>
                <a:latin typeface="Helvetica"/>
              </a:rPr>
              <a:t>Sai Prathyaksh Kanagat  ·  Marica Motta  ·  Alberto Faggiotto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FE6"/>
                </a:solidFill>
                <a:latin typeface="Helvetica"/>
              </a:rPr>
              <a:t>Cecilia Gullett  ·  Marilu Stevens  ·  Amelia Ruben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97642"/>
                </a:solidFill>
                <a:latin typeface="Helvetica"/>
              </a:rPr>
              <a:t>Live: backpack-bottle.vercel.app  ·  Code: github.com/saikanagat1117-sys/backpack-bottle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