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GROUP 3 · DIGITAL PLATFORMS LAB · BOLOGNA BUSINESS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5EFE6"/>
                </a:solidFill>
                <a:latin typeface="Georgia"/>
              </a:rPr>
              <a:t>backpack &amp; bottle.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5EFE6"/>
                </a:solidFill>
                <a:latin typeface="Georgia"/>
              </a:rPr>
              <a:t>Curated European city breaks. Transparent prices.</a:t>
            </a:r>
          </a:p>
          <a:p>
            <a:pPr algn="l"/>
            <a:r>
              <a:rPr sz="2200" b="0">
                <a:solidFill>
                  <a:srgbClr val="F5EFE6"/>
                </a:solidFill>
                <a:latin typeface="Georgia"/>
              </a:rPr>
              <a:t>€50 off your first booking.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Campaign brief · brand identity · landing page · tracking · media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Sai Prathyaksh Kanagat · Marica Motta · Alberto Faggiotto · Cecilia Gullett · Marilu Stevens · Amelia Ruben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217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5EFE6"/>
                </a:solidFill>
                <a:latin typeface="Inter"/>
              </a:rPr>
              <a:t>Campaign window: 5 May – 15 June 2026  ·  Presented Tuesday 5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What we'll walk 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The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What we were asked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Strategic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Who, what, when, how much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49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The 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69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Italian millennials, persona + pain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Brand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Positioning, voice, visual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03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Offer &amp; coupon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23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5 destinations, BB50 mechanic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39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Landing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Architecture + walkthrough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971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39" y="2971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Measurement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291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GTM, GA4, Meta Pixel, Consent Mode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3749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749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Media plan &amp; budget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4069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60/40 Meta/Google, €2,000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526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39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Timeline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39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Pre-launch → 6-week run →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5303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39" y="5303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Risks &amp; 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39" y="5623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Assumptions and what we'd do 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Group 3 — Backpack &amp; Bottle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6576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65760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BUSINESS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Promote travel deals under the "Backpack &amp; Bottle" brand and generate qualified leads interested in affordable, experience-driven trips.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77440"/>
            <a:ext cx="36576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377440"/>
            <a:ext cx="365760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MARKETING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Make the offer feel attractive, accessible, and time-sensitive — combining inspiration with a clear incentive to request a coupon and book 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377440"/>
            <a:ext cx="36576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65760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WHAT WAS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089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Audience, offer architecture, value prop sharpening, media mix, budget, timing, KPI targets — all left to the team to define and justify.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Mandatory KPIs: LP visits · coupon downloads · lead form submissions · CVR · CPL · email list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Strategic decisions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591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Italian millennials 25–39, urban, €25–45k income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9456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591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Curated European city breaks · 5 destinations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3591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COUPON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€50 off · code BB50 · valid 90 days · min €300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9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"Skip the research fatigue"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7472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639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STRATEGIC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Lead acquisition for email nurture (long booking cycle)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7472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639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€2,000 paid media · 60% Meta · 40% Google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5488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194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5 May – 15 June 2026 (6 weeks active)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75488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9194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TARGETS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257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5,000 visits → 400 coupons → 300 leads · €6.67 CPL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75488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9194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257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Next.js + Vercel · GTM · GA4 · Meta Pixel · Looker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Who we're talking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Italian millennials 25–39 · urban · digitally 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Age: 25–39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Location: Milan · Rome · Bologna · Florence · Turin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Income: €25–45k/year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Education: University degree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Employment: Digital, creative, service sectors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Relationship: Single or couples without children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Language: Italian (primary), English (secondary)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86000"/>
            <a:ext cx="5486400" cy="384048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TRAVEL MOTIVATIONS &amp;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Authentic local life — not package tourism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Quality time with friends/family (38% motivation)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Food &amp; wine experiences (36%)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Shareable Instagram moments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Books 2–4 months ahead, takes 3–4 trips/year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70% inspired by destinations seen on social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Mobile for inspiration · desktop for booking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Avoids August (Ferragosto), prefers Apr–Jun &amp; Sep–Oct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What blocks them from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Five pain points the campaign solves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Research overwhelm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Booking.com shows 500 hotels — paralysing. We show 3–5 curated options per 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Price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1752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Frustrated by prices that jump at checkout. We show all-in pricing upfront.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40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Trust deficit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8404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Burned by Volagratis / eDreams refund delays. We position transparency as the brand.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634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FOMO on the "best" deal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6634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Constantly worry they're missing a better price. €50 off is a real, named discount — not a fake countdown.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486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Time scarcity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4864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Want to travel more but exhausted by planning. Pre-packaged itineraries cut planning time to 5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How we differ from every competitor in the audience's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5EFE6"/>
                </a:solidFill>
                <a:latin typeface="Georgia"/>
              </a:rPr>
              <a:t>"Skip the research fatigue."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European city breaks at insider prices — early access deals that fit your budget and deliver experiences worth sharing.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8404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0624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Competitor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How they compete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How we win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Booking.com / Expedia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Compete on breadth — thousands of 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 compete on curation — best 3–5 per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Volagratis / Lastminute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Compete on price (but with trust issues)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 compete on transparent value + trust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Luxury tour operators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High-touch concierge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Affordable authenticity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DIY booking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Maximum control, maximum effort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5-minute booking, time saved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Brand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Modern Wanderer — warm, editorial, trustworthy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PALETTE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645920" cy="9144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#1F3A2E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560320"/>
            <a:ext cx="1645920" cy="914400"/>
          </a:xfrm>
          <a:prstGeom prst="rect">
            <a:avLst/>
          </a:prstGeom>
          <a:solidFill>
            <a:srgbClr val="14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Forest dark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#142620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560320"/>
            <a:ext cx="1645920" cy="9144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Cream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#F5EFE6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645920" cy="91440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Cream dark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#E8DFD1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931920"/>
            <a:ext cx="1645920" cy="914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Burnt orange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120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#D97642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931920"/>
            <a:ext cx="1645920" cy="914400"/>
          </a:xfrm>
          <a:prstGeom prst="rect">
            <a:avLst/>
          </a:prstGeom>
          <a:solidFill>
            <a:srgbClr val="B85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Burnt dark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120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#B85E30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TYPOGRAPHY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0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A2E"/>
                </a:solidFill>
                <a:latin typeface="Georgia"/>
              </a:rPr>
              <a:t>Fraunces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Display serif — used for headlines, wordmark, prices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404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Inter"/>
              </a:rPr>
              <a:t>Inter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80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Sans — used for body, UI, captions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20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406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Direct. Warm. Anti-tourist-trap. Editorial without being pretentious. We say what we don't do as much as what we 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promise + 4 selling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1064240" cy="109728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We do the hard work of curation so you don't have to spend hours comparing options. We pick the best 3–5 packages per destination, negotiate early-booking rates, and present them transparently. You book in 5 minutes and go create memories.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Curated, not overwhelming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3–5 great options per city, not 500. Every hotel pre-vetted for location, reviews,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365760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365760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38221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Insider early-booking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4206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€50 off through partnership rates. Real discount, transparent all-in pricing.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023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Authentic local experiences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Neighbourhoods locals actually live in. Real cafés and markets, not tourist traps.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493776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93776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51023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Worry-free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5486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Flights + hotel + itinerary coordinated. Flexible dates. Email support if questions arise.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5 curated European city breaks · 1.5–3 hour flights from Italy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CLASSIC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ITALY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Rome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€280 · 2 nights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COAST &amp; 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SPAIN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Barcelona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€320 · 3 nights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9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94959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79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CANALS &amp;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NETHERLANDS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Amsterdam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€365 · 3 nights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80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ATLANTIC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PORTUGAL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Lisbon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€345 · 3 nights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19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399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04119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HISTORIC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399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CZECH REPUBLIC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399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Prague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399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399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€295 · 2 nights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Each package includes: round-trip flight from Italian airports, 3–4 star boutique hotel, local guide &amp; itinerary suggestions. Optional add-ons: food tours, bike rentals, museum passes.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Coupon mechanic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BB50 — built to drive lead capture, not race-to-the-bottom pricing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486400" cy="384048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MECHANIC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D97642"/>
                </a:solidFill>
                <a:latin typeface="Georgia"/>
              </a:rPr>
              <a:t>€50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off bookings from €300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Code: BB50  ·  Valid 90 days  ·  One per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Travel dates 1 Jun – 31 Dec 2026.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Excl. 23–31 Dec, 31 Dec – 2 Jan, 10–20 Aug.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Not combinable with other offers.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86000"/>
            <a:ext cx="5303520" cy="384048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WHY THIS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€300 minimum: realistic floor for flight + hotel city break.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€50 = 16.7% — meaningful but doesn't devalue the brand.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90-day validity: matches Italian booking cycle (2–4 months ahead) without inducing urgency paralysis.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Required email + GDPR consent → coupon = the lead-magnet logic.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One-per-customer prevents stockpiling, supports clean reporting.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From paid impression to booking — and where each KPI 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828800" cy="182880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IMPRESSIONS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150–180k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Meta + Google 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542031"/>
            <a:ext cx="1828800" cy="1682496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679191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CLICKS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99231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1.5–2k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39311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CTR ~1%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615184"/>
            <a:ext cx="1828800" cy="1536192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7523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LANDING VISITS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7238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124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KPI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688336"/>
            <a:ext cx="1828800" cy="1389888"/>
          </a:xfrm>
          <a:prstGeom prst="round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82549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COUPON DOWNLOADS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4553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856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KPI #2 · 8% CVR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761488"/>
            <a:ext cx="1828800" cy="1243584"/>
          </a:xfrm>
          <a:prstGeom prst="round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8986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EMAIL LEADS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1868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587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KPI #3 · 6% CVR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2834640"/>
            <a:ext cx="1828800" cy="1097280"/>
          </a:xfrm>
          <a:prstGeom prst="round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BOOKINGS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2918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~30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931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10% nurture conv.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€2,000 spend ÷ 300 leads = €6.67 CPL · ROI tracked over 90 days as nurtured leads convert to bookings.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Landing page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Single-purpose page optimised for one action: download the coupon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Sticky nav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Wordmark · Destinations · How it works · Blog · Measurement · EN/IT toggle · Coupon CTA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224028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194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Hero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5146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Eyebrow tag · headline ("Skip the research fatigue") · subheadline · dual CTA · trust 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Value pillars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4 pillars on dark forest background — curation, transparency, authentic, worry-free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320040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3154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Destinations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474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5 cards · image · country · city · from-price · clickable to scroll to 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How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3 steps · claim coupon → pick city → book and 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79" y="416052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4114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Social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4348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4 stats: 500+ hotels vetted · 5 min to book · 0 hidden fees · €50 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4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74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Lead 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Form: name · email · departure city · destination interest · GDPR consent · CTA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79" y="512064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5074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Footer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53949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Wordmark · navigation · privacy · terms · academic project 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Site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Every route the campaign serves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2672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Route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Italian primary landing page (EN toggle)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/grazie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Thank-you page · BB50 displayed · PDF download · GA4 conversion event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Public measurement plan (this deck, on the live site)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/blog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SEO hub — 3 posts on weekend itineraries, booking timing, destination comparisons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/blog/[slug]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Individual post pages with CTA back to coupon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/privacy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GDPR privacy policy + cookie disclosures + coupon T&amp;Cs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/api/lead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Server endpoint accepting form submissions, forwarding to ESP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/backpack-bottle-coupon-BB50.pdf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Branded one-page coupon PDF served from /public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Built on Next.js 14 (App Router) + TypeScript + Tailwind, deployed on Vercel.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Tracking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One container. Every tag. Consent-aware.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All marketing tags fire through a single GTM container. Each user interaction pushes a named event into window.dataLayer. GTM listens, fires GA4 + Meta Pixel + Google Ads. Consent Mode v2 blocks marketing storage until consent is granted.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11064240" cy="3291840"/>
          </a:xfrm>
          <a:prstGeom prst="roundRect">
            <a:avLst/>
          </a:prstGeom>
          <a:solidFill>
            <a:srgbClr val="14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User action (click / scroll / submit / page load)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window.dataLayer.push({event: 'coupon_download', value: 50, ...})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┌────────────────────────────────────────────────────────────┐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Google Tag Manager   (GTM-XXXXXXX)       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• Trigger: Custom Event = coupon_download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• Variables read: coupon_code · value · currency · destination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• Consent gate: ad_storage = granted required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└─────────┬──────────────────┬──────────────────┬─────────────┘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▼                  ▼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[GA4 event]        [Meta Lead]      [Google Ads conv.]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G-XXXXXX           Pixel ID         AW-XXXXXX/abcd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│                  │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▼                  ▼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Looker Studio    Retargeting aud.   Conversion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dataLayer event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Every custom event the site fires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Event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Trigger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Parameters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page_view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Auto via GA4 Enhanced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page_location, page_title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Funnel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scroll_75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GTM Scroll Depth trigger 75%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percent_scrolled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Engagement quality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cta_click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Hero, nav, blog CTAs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Intent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destination_card_click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Destination card 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destination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dim destination_interest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form_start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First form-field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form: coupon_lead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 abandonment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form_submit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POST /api/lead success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form, destination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lead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coupon_download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After submit + direct PDF 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coupon_code, value, currency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Primary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thank_you_view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/grazie page 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value, currency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Backup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consent_update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Cookie banner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ad_storage, analytics_storage, ad_user_data, ad_personalization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Consent Mode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visit_count_set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Every page load (localStorage)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visit_count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User property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GTM tag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Every tag the container ships, what it does, when it fires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Tag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Trigger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All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Pageviews + base config to property G-XXXXXXXXXX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Marked as conversion in GA4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Lead-stage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cta_click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cta_click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Engagement tracking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scroll_75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scroll_75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Engagement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Meta Pixel — Base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All Pages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PageView for retargeting audiences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Meta Pixel —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Optimisation event for Meta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Meta Pixel — CompleteRegistration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Bottom-funnel signal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Google Ads — Lead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coupon_download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Value 50 EUR; imported into Google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Google Ads — Remarketing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All Pages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Audience builder for retargeting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Consent Mode v2 (GDPR)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Default-denied. Privacy-first. Audit-ready.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Before GTM loads, gtag('consent', 'default', ...) sets all four signals to denied. The cookie banner asks the user. On Accept, a consent_update event flips signals to granted; pending tags execute.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1089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75488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Signal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Default state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After accept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Controls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ad_storage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Meta Pixel · Google Ads cookies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analytics_storage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GA4 cookies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ad_user_data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User-data signals to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ad_personalization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Personalised ads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Inter"/>
              </a:rPr>
              <a:t>Even with Reject, GA4 receives consent-modeled pings (no cookies) so totals are still observable in aggregate — Google's recommended setup.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KPI definitions &amp; targets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4704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KPI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Rationale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Source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Landing page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€2,000 ÷ €0.40 blended CPC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GA4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Coupon downloads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400 (8% CVR)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lead-magnet benchmark 5–10%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GA4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Lead form submissions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300 (6% CVR)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Industry standard for gated content 5–8%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GA4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Conversion rate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6–8%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(downloads + forms) ÷ visits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Calculated metric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Cost per lead (CPL)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€6.67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sector typical €10–50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Spend ÷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Email list growth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400+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Net new subscribers from campaign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ESP report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Email open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industry avg 30–35%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ESP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Click-to-open rate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20%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industry avg 15–25%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ESP report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Media plan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Where the €2,000 goes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Two channels. One job each. Meta drives discovery + retargeting; Google captures active intent.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5486400" cy="329184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Inter"/>
              </a:rPr>
              <a:t>META ADS · 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F3A2E"/>
                </a:solidFill>
                <a:latin typeface="Georgia"/>
              </a:rPr>
              <a:t>€1,200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Awareness:    €300  · Carousel ads, broad reach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Lead Gen:     €600  · Conversion-optimised, interest targeting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Retargeting:  €300  · Dynamic ads for site visitors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Expected: 150–180k impressions · 1.5–2k clicks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3.5–4k LP visits · 200–250 leads at ~€6 CPL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926080"/>
            <a:ext cx="5486400" cy="329184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Inter"/>
              </a:rPr>
              <a:t>GOOGLE ADS · 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F3A2E"/>
                </a:solidFill>
                <a:latin typeface="Georgia"/>
              </a:rPr>
              <a:t>€800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Branded:    €100  · Protect brand-name searches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Generic:    €500  · "weekend Barcellona", "viaggi economici"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Competitor: €200  · "volagratis alternative"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Expected: 400–700 clicks at €1.50–2.50 CPC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1–1.5k LP visits · 70–100 leads at ~€8 CPL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Meta Ads — campaign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Italian millennials spend 2–3 hours daily on Instagram &amp; Facebook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80010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Sub-campaign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Budget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Audience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Creative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Optimisation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8001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Brand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Italian millennials 25–39, urban, travel interests + lookalike of website visitors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Carousel ads showcasing 5 destinations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Reach +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 Generation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€600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Conversion-optimised; interests: travel, weekend trips, food &amp; wine, lookalikes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Single-image ads + video; CTA: Get the coupon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 Lead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8001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Retargeting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Site visitors past 30 days who didn't submit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Dynamic ads with destination viewed + €50 reminder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 Lead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Italy Meta CPM €6–9 · CPC ~€1.05 · Travel CPC even lower (€0.63–1.86). Visual platform fits destination marketing.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Google Ads — campaign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Capture active intent · branded protection · competitor displacement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8580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Sub-campaign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Budget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Keywords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Strategy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Optimisation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Branded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"backpack &amp; bottle", "backpack and bottle"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Defensive — protect from competitor bidding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Branded conversions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Generic Travel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€500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"weekend a Barcellona", "viaggi economici Europa", "city break Praga"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Capture high-intent research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Competitor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"volagratis alternativa", "lastminute recensioni"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Win audiences disillusioned with budget OTAs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Expected: 400–700 clicks · €1.50–2.50 CPC · 70–100 leads at ~€8 CPL.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Why higher CPL on Google: search intent users are more price-comparing. We accept higher CPL because they convert to bookings at 2× the rate of social leads.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Channels we did not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And why excluding them is a strategic choice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 lIns="73152" rIns="73152"/>
                    <a:lstStyle/>
                    <a:p>
                      <a:r>
                        <a:rPr b="1" sz="1200">
                          <a:solidFill>
                            <a:srgbClr val="F5EFE6"/>
                          </a:solidFill>
                          <a:latin typeface="Inter"/>
                        </a:rPr>
                        <a:t>Channel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200">
                          <a:solidFill>
                            <a:srgbClr val="F5EFE6"/>
                          </a:solidFill>
                          <a:latin typeface="Inter"/>
                        </a:rPr>
                        <a:t>Reason for exclusion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Display / programmatic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Too low intent, high wastage on banner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TikTok paid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Audience skews younger (Gen Z) with lower booking propensity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Influencer 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Outside €2,000 budget; would dilute the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Affiliate / referral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Requires existing brand awareness we don't have yet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Print / OOH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Audience is digital-first; ROI invisible at this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Email purchase lists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GDPR violation + brand reputation risk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Budget breakdown &amp; pacing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411480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Meta 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88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€1,200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Google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€800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Total 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11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Owned/Organic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023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€0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Internal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ADDITIONAL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Domain + hosting:  €0  (Vercel hobby + .vercel.app)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Email platform:    €0–50/mo  (Mailchimp free / Klaviyo)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Stock images:      €0  (Unsplash free licence)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Creative production: €0  (in-house)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194560"/>
            <a:ext cx="5486400" cy="411480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PACING (6 WEEKS)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Week 1–2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788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€300/wk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Testing — multiple audiences + creatives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Week 3–4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6576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€400/wk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Scaling — double down on winners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26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Week 5–6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€300/wk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46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Optimisation — efficiency push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864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ROI framework: 300 leads × 10% nurture-to-booking × €400 avg booking × 10% commission = €1,200 directly attributable revenue. Lead gen — true ROI realised over 90-day coupon validity.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Campaign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8 weeks total · Launch 5 May · Active 5 May – 15 June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42900">
                <a:tc>
                  <a:txBody>
                    <a:bodyPr lIns="73152" rIns="73152"/>
                    <a:lstStyle/>
                    <a:p>
                      <a:r>
                        <a:rPr b="1" sz="900">
                          <a:solidFill>
                            <a:srgbClr val="F5EFE6"/>
                          </a:solidFill>
                          <a:latin typeface="Inter"/>
                        </a:rPr>
                        <a:t>Phase · dates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900">
                          <a:solidFill>
                            <a:srgbClr val="F5EFE6"/>
                          </a:solidFill>
                          <a:latin typeface="Inter"/>
                        </a:rPr>
                        <a:t>Theme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900">
                          <a:solidFill>
                            <a:srgbClr val="F5EFE6"/>
                          </a:solidFill>
                          <a:latin typeface="Inter"/>
                        </a:rPr>
                        <a:t>Activities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1 (Apr 1–7)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Strategy lock, GTM container creation, GA4 property, Meta Business Manager + Pixel install, Google Ads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2 (Apr 8–14)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Content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Landing page copy, hero image selection, blog posts, ad creative, email templates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3 (Apr 15–21)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Full tracking QA, form-to-ESP wire-up, double opt-in, Looker dashboard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4 (Apr 22–30)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Testing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Cross-device QA, dataLayer event verification, conversion test, soft-launch to small audience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1 (May 5–11)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Soft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Monitor closely, gather data, fix issues 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2 (May 12–18)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Data collection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Identify winning audiences and creatives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3 (May 19–25)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Pause losers, double budget on winners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4 (May 26–Jun 1)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Peak performance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Maximise volume at target CPL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5 (Jun 2–8)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Optimisation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Fine-tune efficiency, lower CPL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6 (Jun 9–15)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Final push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Hit goals, exhaust budget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Post · Week 7 (Jun 16–22)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Final report, KPI verdict, learnings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Email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What happens after the user submits the form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When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Email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Content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Coupon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BB50 + PDF guide attached. Confirms double opt-in if required.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T+1 day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Welcome email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Brand intro · 5 destinations briefly · soft CTA to first city.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Destination spotlight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Deep dive on the destination they selected as 'most curious'.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T+7 days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Booking psychology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Why booking 6–8 weeks ahead is the sweet spot (links to blog post).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Weekly (Tue 10am)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Deal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One curated package, one reason to act now, transparent pricing.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T-30, T-7, T-1 days before expiry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Coupon expiry reminders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Soft reminder · stronger urgency · final day.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T+30 days, no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Re-engagement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Different angle: "What's stopping you?" with FAQ + support contact.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Tooling: Brevo (newsletter@backpackandbottle.com); would migrate to Klaviyo if migrating at scale for behaviour-triggered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Looker Studio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What we look at every morning during the campaign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Sessions, users, source/medium, UTMs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Compare paid vs organic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8600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8600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FUNNEL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Visit → form_start → form_submit → coupon_download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37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Step-by-step drop-off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28600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Spend, CPC, CPL by channel + sub-campaign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337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Spot inefficient spend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6908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Geo (Italian regions), device, age, gender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Find concentration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06908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06908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ENGAGEMENT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Avg session duration, scroll depth, blog reads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Quality of traffic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06908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406908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COUPON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Downloads by destination · redemption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Which cities drive bookings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Assumptions made explicit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Things the brief left open — and what we decided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4704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Decision area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What we assumed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Discount 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€50 off bookings €300+ — 16.7% meaningful, doesn't devalue 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Validity period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90 days — matches Italian booking cycle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1 Jun – 31 Dec 2026, excl. Christmas, NYE, Ferragosto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Geographic scope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Italian residents only · landing page in Italian (EN toggle for academic submission)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Refund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Standard airline cancellation per carrier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Payment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Card · PayPal · immediate e-ticket delivery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Eligibility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18+, valid email required, phone 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Email frequency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1 welcome series + 1 weekly deal + expiry reminders — opt-out always one 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Risks &amp; mitigations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22514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Risk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Mitigation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CPL exceeds €6.67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Pause weakest sub-campaign weekly; reallocate to retargeting (lowest CPL)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Coupon redemption &lt; 10%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A/B test discount value (€50 vs €75) in week 4; longer email nurture sequence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Italian Q2 holiday clusters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Timeline avoids Easter, Liberation Day, Labour Day, Republic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Privacy regulator scrutiny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Consent Mode v2 default-denied, DPO email visible, retention policy enforced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Single-channel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Two paid channels + organic blog SEO + email — no single point of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Brand-name confusion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Branded search budget (€100) protects "backpack &amp; bottle" SERPs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Internal consistency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Audience → Offer → Positioning → Media → Budget → KPIs → Timing all align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Audience → Offer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1945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Millennials value experiences → city break packages with authentic local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Audience → Coupon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63347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Budget-conscious but not cheap → €50 discount, meaningful but not feels cheap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Audience → Curation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7238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Decision fatigue → 3–5 curated options per city, not 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1129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Offer → 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1129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Curated packages → "Skip the research fatigue"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502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Offer →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95020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Transparent pricing → differentiation from sketchy OTAs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Positioning →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3891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"Instagram-worthy" → visual Meta ads · "Planning fatigue" → search ads on 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28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Media →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82803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Meta-heavy where audience spends time + affordable Italian CPCs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669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Budget → KPIs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526694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€6.67 target CPL achievable with Meta €0.70–1.00 CPC + 6% form CVR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058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KPIs →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70585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May launch hits the peak summer-trip booking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Verdict: no contradictions. Brief is internally coherent and execution-ready.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What we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Beyond the brief: an actual working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Live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Next.js + Vercel · backpack-bottle.vercel.app · publicly accessible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Brand identity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Wordmark + line mark · 6-colour palette · Fraunces + Inter typography · voice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Branded coupon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BB50 single-page PDF generated programmatically — served from /public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Public measurement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/measurement on the live site documents the entire tracking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3 SEO blog posts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Weekend itinerary · booking timing · destination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194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Italian + English landing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2514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EN/IT toggle · localStorage persisted · academic-friendly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GDPR Consent Mode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Default-denied banner · audit-ready · all 4 signals modelled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3749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3749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Tracking dataLayer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4069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10 custom events · 10 GTM tags · 2 custom dimensions · ready to publish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This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59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30 slides covering brief → strategy → brand → site → tracking → media → KPIs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Next steps to go truly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What a real launch would require beyond this academic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Legal entity +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VAT registration · Stripe Italia · IATA accreditation or partner OTA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Real 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Negotiate flight + hotel partnership rates for the 5 destinations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Booking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Replace static destination cards with a real booking flow + inventory feed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Customer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0332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Italian-language email + chat with 24h response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Email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2062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Klaviyo with behaviour-triggered flows (e.g., abandoned form, viewed-but-no-form)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09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Performance creative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091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Ongoing weekly creative refresh — Meta fatigue at 3–5 days for cold audiences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212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Real Looker connection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2120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GA4 → BigQuery export → Looker Studio for unsampled long-term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15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715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Compliance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71500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External DPO review pre-launch · cookie audit · privacy policy lawyer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Where to find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Live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3774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https://backpack-bottle.vercel.app  (public)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GitHub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9260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https://github.com/saikanagat1117-sys/backpack-bottle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Measurement page (live)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4747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https://backpack-bottle.vercel.app/measurement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5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Branded coupon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023359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https://backpack-bottle.vercel.app/backpack-bottle-coupon-BB50.pdf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Privacy &amp; T&amp;Cs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5720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https://backpack-bottle.vercel.app/privacy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Blog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5120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https://backpack-bottle.vercel.app/blog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This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669279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Backpack-Bottle-Campaign.pptx (in repo /public folder)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5EFE6"/>
                </a:solidFill>
                <a:latin typeface="Georgia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97642"/>
                </a:solidFill>
                <a:latin typeface="Georgia"/>
              </a:rPr>
              <a:t>Skip the research fatigue.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Group 3: Sai · Marica · Alberto · Cecilia · Marilu · Amelia  ·  Bologna Business School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217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5EFE6"/>
                </a:solidFill>
                <a:latin typeface="Inter"/>
              </a:rPr>
              <a:t>saikanagat1117@gmail.com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GROUP 3 ·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Six roles, one shipped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Each role owns a slice; together they form the full digital marketing stack.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349240" cy="118872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Helvetic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Times-Bold"/>
              </a:rPr>
              <a:t>Sai Prathyaksh Kanagat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5F31"/>
                </a:solidFill>
                <a:latin typeface="Helvetica"/>
              </a:rPr>
              <a:t>CRO Specialist + Campaign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Landing page, brand strategy, conversion optimization, project lead.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194560"/>
            <a:ext cx="5349240" cy="118872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Helvetic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2677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Times-Bold"/>
              </a:rPr>
              <a:t>Marica Motta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578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5F31"/>
                </a:solidFill>
                <a:latin typeface="Helvetica"/>
              </a:rPr>
              <a:t>MarTech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834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GTM container, GA4 events, Meta Pixel, dataLayer architecture.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5349240" cy="118872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Helvetic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9359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Times-Bold"/>
              </a:rPr>
              <a:t>Alberto Faggiotto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04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5F31"/>
                </a:solidFill>
                <a:latin typeface="Helvetica"/>
              </a:rPr>
              <a:t>Compliance Specialist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60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Cookie banner, Consent Mode v2, GDPR privacy policy, T&amp;Cs.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520440"/>
            <a:ext cx="5349240" cy="118872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611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Helvetic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59359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Times-Bold"/>
              </a:rPr>
              <a:t>Cecilia Gullett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904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5F31"/>
                </a:solidFill>
                <a:latin typeface="Helvetica"/>
              </a:rPr>
              <a:t>Email Marketing Specialist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160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Brevo setup, 8-email welcome series, contact attributes, list architecture.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5349240" cy="118872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Helvetic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9194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Times-Bold"/>
              </a:rPr>
              <a:t>Marilu Stevens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30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5F31"/>
                </a:solidFill>
                <a:latin typeface="Helvetica"/>
              </a:rPr>
              <a:t>Marketing Automation Specialist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86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Lead form → Brevo bridge, Meta CAPI mirror, automation triggers, UTM persistence.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846320"/>
            <a:ext cx="5349240" cy="118872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9377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Helvetica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9194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Times-Bold"/>
              </a:rPr>
              <a:t>Amelia Ruben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30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5F31"/>
                </a:solidFill>
                <a:latin typeface="Helvetica"/>
              </a:rPr>
              <a:t>Campaign Analyst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486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KPI tree, custom dimensions, key events, Looker Studio dashboard.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OPTIMIZATION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A/B test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What we'd run on day 1 of the campaign to start learning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Helvetica"/>
              </a:rPr>
              <a:t>An emotional hero CTA ('Discover your weekend') will out-convert a transactional one ('Get your €50 coupon') for cold audiences in the awareness phase, because Italian millennials respond to aspiration over discount when they're not yet aware of the brand.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VARIANT A (control)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Times-Bold"/>
              </a:rPr>
              <a:t>"Get your €50 coupon →"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62"/>
                </a:solidFill>
                <a:latin typeface="Helvetica"/>
              </a:rPr>
              <a:t>Transactional · 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VARIANT B (challenger)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Times-Bold"/>
              </a:rPr>
              <a:t>"Discover your next weekend →"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62"/>
                </a:solidFill>
                <a:latin typeface="Helvetica"/>
              </a:rPr>
              <a:t>Emotional · aspirational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11155680" cy="137160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DECISION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Helvetica"/>
              </a:rPr>
              <a:t>Primary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34924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form_submit conversion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Helvetica"/>
              </a:rPr>
              <a:t>Sample size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5321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~750 sessions per variant (3% baseline, 20% MDE, 95% confidence)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150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Helvetica"/>
              </a:rPr>
              <a:t>Test 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71500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10–14 days minimum (covers weekday + weekend behaviour)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79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Helvetica"/>
              </a:rPr>
              <a:t>Decision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897879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Ship the winner if uplift ≥ 15% with p &lt; 0.05; otherwise keep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80759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Helvetica"/>
              </a:rPr>
              <a:t>Tooling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6080759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Google Optimize sunset → using GA4 Audiences + Meta Ads creative split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OPTIMIZATION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Competitor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Italian travel sector · CPL, CTR, positioning · what we're up against.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Helvetica"/>
              </a:rPr>
              <a:t>COMPETITOR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Helvetica"/>
              </a:rPr>
              <a:t>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Helvetica"/>
              </a:rPr>
              <a:t>AVG CPL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377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Helvetica"/>
              </a:rPr>
              <a:t>AVG CTR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Helvetica"/>
              </a:rPr>
              <a:t>LEAD MAGNET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Helvetica"/>
              </a:rPr>
              <a:t>OUR EDGE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0972800" cy="50292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980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Helvetica"/>
              </a:rPr>
              <a:t>Volagratis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7980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Cheapest flights, no curation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980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€11.20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7980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980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Newsletter signup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7980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We curate; they don't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54680"/>
            <a:ext cx="10972800" cy="50292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009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Helvetica"/>
              </a:rPr>
              <a:t>eDreams Prime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300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Membership flight discounts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300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€9.50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300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2.0%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00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Free trial Prime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300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No subscription friction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10972800" cy="50292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039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Helvetica"/>
              </a:rPr>
              <a:t>Lastminute.com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8039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Last-minute travel deals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8039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€8.30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8039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2.4%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8039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App download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8039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Helvetica"/>
              </a:rPr>
              <a:t>We're early-booking, not last-minute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60520"/>
            <a:ext cx="10972800" cy="50292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3068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EFE6"/>
                </a:solidFill>
                <a:latin typeface="Helvetica"/>
              </a:rPr>
              <a:t>BACKPACK &amp; BOTTLE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43068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EFE6"/>
                </a:solidFill>
                <a:latin typeface="Helvetica"/>
              </a:rPr>
              <a:t>Curated · transparent · early-booking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3068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EFE6"/>
                </a:solidFill>
                <a:latin typeface="Helvetica"/>
              </a:rPr>
              <a:t>€6.67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3068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EFE6"/>
                </a:solidFill>
                <a:latin typeface="Helvetica"/>
              </a:rPr>
              <a:t>2.7% (proj)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3068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EFE6"/>
                </a:solidFill>
                <a:latin typeface="Helvetica"/>
              </a:rPr>
              <a:t>BB50 €50 coupon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3068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EFE6"/>
                </a:solidFill>
                <a:latin typeface="Helvetica"/>
              </a:rPr>
              <a:t>First Italian to combine all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1206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62"/>
                </a:solidFill>
                <a:latin typeface="Helvetica"/>
              </a:rPr>
              <a:t>Source: WordStream travel benchmarks 2025, SimilarWeb traffic data, Italy-localised CPC estimates from Google Keyword Planner. Our projected CPL of €6.67 is ~30% better than the closest competitor (Lastminute) — driven by tighter audience targeting (Italian millennials only, vs. general travel) and a higher-value lead magnet (€50 coupon vs. newsletter signup).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OPTIMIZATION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Accessibility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WCAG 2.1 AA review of the live site. Pass / Partial /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Helvetica"/>
              </a:rPr>
              <a:t>Color contrast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Forest #1F3A2E on cream #F5EFE6 = 12.4:1 (AAA). Burnt #D97642 on cream = 4.6:1 (AA).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2286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Helvetica"/>
              </a:rPr>
              <a:t>Heading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All pages use a single &lt;h1&gt;; subheadings cascade h2 → h3 logically. Site map nav uses semantic &lt;nav&gt;.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27432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Helvetica"/>
              </a:rPr>
              <a:t>Alt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00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All &lt;img&gt; tags have descriptive alt attrs. Decorative mosaic images use aria-hidden=true.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32004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Helvetica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Helvetica"/>
              </a:rPr>
              <a:t>Form labels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657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Lead form has visible labels for all 5 fields. Placeholder text exists but not as a substitute. Could improve: explicit aria-required=true on required inputs.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3657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D97642"/>
                </a:solidFill>
                <a:latin typeface="Helvetica"/>
              </a:rP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Helvetica"/>
              </a:rPr>
              <a:t>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Helvetica"/>
              </a:rPr>
              <a:t>Keyboard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114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All CTAs reachable via Tab. Sticky CTA bar may need skip-link. Exit-intent modal traps focus correctly.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4114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D97642"/>
                </a:solidFill>
                <a:latin typeface="Helvetica"/>
              </a:rPr>
              <a:t>PARTIAL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Helvetica"/>
              </a:rPr>
              <a:t>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Helvetica"/>
              </a:rPr>
              <a:t>Cookie banner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Banner is dismissible via Escape, but should announce as aria-live=polite. Will fix in v2.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4572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D97642"/>
                </a:solidFill>
                <a:latin typeface="Helvetica"/>
              </a:rPr>
              <a:t>PARTIAL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29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Helvetica"/>
              </a:rPr>
              <a:t>Focus indicators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029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Default browser focus rings preserved (no outline:none). Visible on all interactive elements.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50292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486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Helvetica"/>
              </a:rPr>
              <a:t>Lang attribute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Helvetica"/>
              </a:rPr>
              <a:t>&lt;html lang='it'&gt; set; alternate hreflang for /?lang=en confirmed in metadata.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54864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B62"/>
                </a:solidFill>
                <a:latin typeface="Helvetica"/>
              </a:rPr>
              <a:t>Tooling: Manual code review · axe-core DevTools spot-check on staging. 6 of 8 PASS, 3 PARTIAL with documented fixes for v2.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LIVE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Homepage / 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Above-the-fold view · dual CTA, destination mosaic, countdown</a:t>
            </a:r>
          </a:p>
        </p:txBody>
      </p:sp>
      <p:pic>
        <p:nvPicPr>
          <p:cNvPr id="7" name="Picture 6" descr="hom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0" y="2194560"/>
            <a:ext cx="702259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LIVE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Homepage / full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All 11 sections of the landing flow</a:t>
            </a:r>
          </a:p>
        </p:txBody>
      </p:sp>
      <p:pic>
        <p:nvPicPr>
          <p:cNvPr id="7" name="Picture 6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061" y="2194560"/>
            <a:ext cx="89282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LIVE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Mobile homepage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375px viewport · responsive proof</a:t>
            </a:r>
          </a:p>
        </p:txBody>
      </p:sp>
      <p:pic>
        <p:nvPicPr>
          <p:cNvPr id="7" name="Picture 6" descr="home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978" y="2194560"/>
            <a:ext cx="202699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LIVE ·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Destination detail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Lisbon · /destinazioni/lisbon · 3-day itinerary, food, FAQ</a:t>
            </a:r>
          </a:p>
        </p:txBody>
      </p:sp>
      <p:pic>
        <p:nvPicPr>
          <p:cNvPr id="7" name="Picture 6" descr="dest-lis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4" y="2194560"/>
            <a:ext cx="141934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LIVE ·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Thank-you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/grazie · server-confirmed conversion · BB50 + PDF download</a:t>
            </a:r>
          </a:p>
        </p:txBody>
      </p:sp>
      <p:pic>
        <p:nvPicPr>
          <p:cNvPr id="7" name="Picture 6" descr="graz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18" y="2194560"/>
            <a:ext cx="58739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LIVE ·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Privacy &amp; T&amp;Cs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GDPR · Consent Mode v2 · coupon T&amp;Cs</a:t>
            </a:r>
          </a:p>
        </p:txBody>
      </p:sp>
      <p:pic>
        <p:nvPicPr>
          <p:cNvPr id="7" name="Picture 6" descr="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425" y="2194560"/>
            <a:ext cx="3696101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LIVE ·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Blog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3 SEO-optimised posts · Italian + EN</a:t>
            </a:r>
          </a:p>
        </p:txBody>
      </p:sp>
      <p:pic>
        <p:nvPicPr>
          <p:cNvPr id="7" name="Picture 6" descr="b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195" y="2194560"/>
            <a:ext cx="4980561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LIVE ·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Measurement plan (live)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/measurement · KPI tree, dataLayer schema, custom dims</a:t>
            </a:r>
          </a:p>
        </p:txBody>
      </p:sp>
      <p:pic>
        <p:nvPicPr>
          <p:cNvPr id="7" name="Picture 6" descr="meas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088" y="2194560"/>
            <a:ext cx="1466774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LIVE ·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Stack architecture (live)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/stack · 6-layer course-aligned framework</a:t>
            </a:r>
          </a:p>
        </p:txBody>
      </p:sp>
      <p:pic>
        <p:nvPicPr>
          <p:cNvPr id="7" name="Picture 6" descr="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60" y="2194560"/>
            <a:ext cx="182563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Helvetica"/>
              </a:rPr>
              <a:t>LIVE ·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F3A2E"/>
                </a:solidFill>
                <a:latin typeface="Times-Bold"/>
              </a:rPr>
              <a:t>Looker Studio dashboard mock (live)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62"/>
                </a:solidFill>
                <a:latin typeface="Helvetica"/>
              </a:rPr>
              <a:t>/dashboard · projected campaign performance · 6 panels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436" y="2194560"/>
            <a:ext cx="2506079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