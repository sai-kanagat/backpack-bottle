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GROUP 3 · DIGITAL PLATFORMS LAB · BOLOGNA BUSINESS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F5EFE6"/>
                </a:solidFill>
                <a:latin typeface="Georgia"/>
              </a:rPr>
              <a:t>backpack &amp; bottle.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5EFE6"/>
                </a:solidFill>
                <a:latin typeface="Georgia"/>
              </a:rPr>
              <a:t>Curated European city breaks. Transparent prices.</a:t>
            </a:r>
          </a:p>
          <a:p>
            <a:pPr algn="l"/>
            <a:r>
              <a:rPr sz="2200" b="0">
                <a:solidFill>
                  <a:srgbClr val="F5EFE6"/>
                </a:solidFill>
                <a:latin typeface="Georgia"/>
              </a:rPr>
              <a:t>€50 off your first booking.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D97642"/>
                </a:solidFill>
                <a:latin typeface="Inter"/>
              </a:rPr>
              <a:t>Campaign brief · brand identity · landing page · tracking · media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EFE6"/>
                </a:solidFill>
                <a:latin typeface="Inter"/>
              </a:rPr>
              <a:t>Group 3 · Sai Prathyaksh Kanagat · Marica Motta · Alberto Faggiotto · Cecilia Gullett · Marilu Stevens · Amelia Ruben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21792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F5EFE6"/>
                </a:solidFill>
                <a:latin typeface="Inter"/>
              </a:rPr>
              <a:t>Campaign window: 5 May – 15 June 2026  ·  Presented Tuesday 5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What we'll walk 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945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The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5146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What we were asked to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718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Georg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9718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Strategic decisions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2918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Who, what, when, how much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490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Georg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7490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The audience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0690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Italian millennials, persona + pain 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262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Georgia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5262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Brand identity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846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Positioning, voice, visual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3035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Georgia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3035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Offer &amp; coupon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6235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5 destinations, BB50 mechanic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21945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Georgia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39" y="21945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Landing page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39" y="25146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Architecture + walkthrough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9" y="29718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Georgia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39" y="29718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Measurement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39" y="32918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GTM, GA4, Meta Pixel, Consent Mode v2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59" y="37490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Georgia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39" y="37490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Media plan &amp; budget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39" y="40690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60/40 Meta/Google, €2,000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59" y="45262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Georgia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39" y="45262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Timeline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39" y="4846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Pre-launch → 6-week run → analysis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59" y="53035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Georgia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39" y="53035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Risks &amp; next steps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39" y="56235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Assumptions and what we'd do live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2 / 34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The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Group 3 — Backpack &amp; Bottle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77440"/>
            <a:ext cx="3657600" cy="3291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377440"/>
            <a:ext cx="3657600" cy="381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BUSINESS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310896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Promote travel deals under the "Backpack &amp; Bottle" brand and generate qualified leads interested in affordable, experience-driven trips.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377440"/>
            <a:ext cx="3657600" cy="3291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377440"/>
            <a:ext cx="3657600" cy="381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6517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MARKETING 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108960"/>
            <a:ext cx="310896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Make the offer feel attractive, accessible, and time-sensitive — combining inspiration with a clear incentive to request a coupon and book early.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377440"/>
            <a:ext cx="3657600" cy="3291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2377440"/>
            <a:ext cx="3657600" cy="381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6517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WHAT WAS OPEN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108960"/>
            <a:ext cx="310896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Audience, offer architecture, value prop sharpening, media mix, budget, timing, KPI targets — all left to the team to define and justify.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Mandatory KPIs: LP visits · coupon downloads · lead form submissions · CVR · CPL · email list growth.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3 / 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Strategic decisions at a glance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6118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5915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AUDIENCE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Italian millennials 25–39, urban, €25–45k income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194560"/>
            <a:ext cx="36118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35915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OFFER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974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Curated European city breaks · 5 destinations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194560"/>
            <a:ext cx="36118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35915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COUPON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6974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€50 off · code BB50 · valid 90 days · min €300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74720"/>
            <a:ext cx="36118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63931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POSITIONING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97764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"Skip the research fatigue"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474720"/>
            <a:ext cx="36118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63931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STRATEGIC 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97764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Lead acquisition for email nurture (long booking cycle)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474720"/>
            <a:ext cx="36118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363931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BUDGET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397764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€2,000 paid media · 60% Meta · 40% Google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754880"/>
            <a:ext cx="36118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91947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WINDOW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25780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5 May – 15 June 2026 (6 weeks active)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4754880"/>
            <a:ext cx="36118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491947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TARGETS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525780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5,000 visits → 400 coupons → 300 leads · €6.67 CPL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4754880"/>
            <a:ext cx="36118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491947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STACK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525780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Next.js + Vercel · GTM · GA4 · Meta Pixel · Looker Studio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4 / 34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Who we're talking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Italian millennials 25–39 · urban · digitally native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530352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DEMOGRAPHICS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49377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Age: 25–39</a:t>
            </a:r>
          </a:p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Location: Milan · Rome · Bologna · Florence · Turin</a:t>
            </a:r>
          </a:p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Income: €25–45k/year</a:t>
            </a:r>
          </a:p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Education: University degree</a:t>
            </a:r>
          </a:p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Employment: Digital, creative, service sectors</a:t>
            </a:r>
          </a:p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Relationship: Single or couples without children</a:t>
            </a:r>
          </a:p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Language: Italian (primary), English (secondary)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286000"/>
            <a:ext cx="5486400" cy="3840480"/>
          </a:xfrm>
          <a:prstGeom prst="round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TRAVEL MOTIVATIONS &amp; BEHAVIOUR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834640"/>
            <a:ext cx="512064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EFE6"/>
                </a:solidFill>
                <a:latin typeface="Inter"/>
              </a:rPr>
              <a:t>• Authentic local life — not package tourism</a:t>
            </a:r>
          </a:p>
          <a:p>
            <a:pPr algn="l"/>
            <a:r>
              <a:rPr sz="1200" b="0">
                <a:solidFill>
                  <a:srgbClr val="F5EFE6"/>
                </a:solidFill>
                <a:latin typeface="Inter"/>
              </a:rPr>
              <a:t>• Quality time with friends/family (38% motivation)</a:t>
            </a:r>
          </a:p>
          <a:p>
            <a:pPr algn="l"/>
            <a:r>
              <a:rPr sz="1200" b="0">
                <a:solidFill>
                  <a:srgbClr val="F5EFE6"/>
                </a:solidFill>
                <a:latin typeface="Inter"/>
              </a:rPr>
              <a:t>• Food &amp; wine experiences (36%)</a:t>
            </a:r>
          </a:p>
          <a:p>
            <a:pPr algn="l"/>
            <a:r>
              <a:rPr sz="1200" b="0">
                <a:solidFill>
                  <a:srgbClr val="F5EFE6"/>
                </a:solidFill>
                <a:latin typeface="Inter"/>
              </a:rPr>
              <a:t>• Shareable Instagram moments</a:t>
            </a:r>
          </a:p>
          <a:p>
            <a:pPr algn="l"/>
            <a:r>
              <a:rPr sz="1200" b="0">
                <a:solidFill>
                  <a:srgbClr val="F5EFE6"/>
                </a:solidFill>
                <a:latin typeface="Inter"/>
              </a:rPr>
              <a:t>• Books 2–4 months ahead, takes 3–4 trips/year</a:t>
            </a:r>
          </a:p>
          <a:p>
            <a:pPr algn="l"/>
            <a:r>
              <a:rPr sz="1200" b="0">
                <a:solidFill>
                  <a:srgbClr val="F5EFE6"/>
                </a:solidFill>
                <a:latin typeface="Inter"/>
              </a:rPr>
              <a:t>• 70% inspired by destinations seen on social</a:t>
            </a:r>
          </a:p>
          <a:p>
            <a:pPr algn="l"/>
            <a:r>
              <a:rPr sz="1200" b="0">
                <a:solidFill>
                  <a:srgbClr val="F5EFE6"/>
                </a:solidFill>
                <a:latin typeface="Inter"/>
              </a:rPr>
              <a:t>• Mobile for inspiration · desktop for booking</a:t>
            </a:r>
          </a:p>
          <a:p>
            <a:pPr algn="l"/>
            <a:r>
              <a:rPr sz="1200" b="0">
                <a:solidFill>
                  <a:srgbClr val="F5EFE6"/>
                </a:solidFill>
                <a:latin typeface="Inter"/>
              </a:rPr>
              <a:t>• Avoids August (Ferragosto), prefers Apr–Jun &amp; Sep–Oct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5 / 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What blocks them from booking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Five pain points the campaign solves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D97642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1945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Research overwhelm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19456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Booking.com shows 500 hotels — paralysing. We show 3–5 curated options per city.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D97642"/>
                </a:solidFill>
                <a:latin typeface="Georg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0175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Price transparency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01752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Frustrated by prices that jump at checkout. We show all-in pricing upfront.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404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D97642"/>
                </a:solidFill>
                <a:latin typeface="Georg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8404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Trust deficit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84048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Burned by Volagratis / eDreams refund delays. We position transparency as the brand.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634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D97642"/>
                </a:solidFill>
                <a:latin typeface="Georgia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6634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FOMO on the "best" deal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466344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Constantly worry they're missing a better price. €50 off is a real, named discount — not a fake countdown.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864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D97642"/>
                </a:solidFill>
                <a:latin typeface="Georgia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4864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Time scarcity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548640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Want to travel more but exhausted by planning. Pre-packaged itineraries cut planning time to 5 minutes.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6 / 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5EFE6"/>
                </a:solidFill>
                <a:latin typeface="Georgia"/>
              </a:rPr>
              <a:t>Positioning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EFE6"/>
                </a:solidFill>
                <a:latin typeface="Inter"/>
              </a:rPr>
              <a:t>How we differ from every competitor in the audience's head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5EFE6"/>
                </a:solidFill>
                <a:latin typeface="Georgia"/>
              </a:rPr>
              <a:t>"Skip the research fatigue."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EFE6"/>
                </a:solidFill>
                <a:latin typeface="Inter"/>
              </a:rPr>
              <a:t>European city breaks at insider prices — early access deals that fit your budget and deliver experiences worth sharing.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84048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20624"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Competitor</a:t>
                      </a:r>
                    </a:p>
                  </a:txBody>
                  <a:tcPr>
                    <a:solidFill>
                      <a:srgbClr val="D97642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How they compete</a:t>
                      </a:r>
                    </a:p>
                  </a:txBody>
                  <a:tcPr>
                    <a:solidFill>
                      <a:srgbClr val="D97642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How we win</a:t>
                      </a:r>
                    </a:p>
                  </a:txBody>
                  <a:tcPr>
                    <a:solidFill>
                      <a:srgbClr val="D97642"/>
                    </a:solidFill>
                  </a:tcPr>
                </a:tc>
              </a:tr>
              <a:tr h="420624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Booking.com / Expedia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Compete on breadth — thousands of options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We compete on curation — best 3–5 per 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Volagratis / Lastminute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Compete on price (but with trust issues)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We compete on transparent value + trust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420624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Luxury tour operators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High-touch concierge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Affordable authenticity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DIY booking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Maximum control, maximum effort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5-minute booking, time saved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5EFE6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F5EFE6"/>
                </a:solidFill>
                <a:latin typeface="Inter"/>
              </a:rPr>
              <a:t>7 / 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Brand identity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Modern Wanderer — warm, editorial, trustworthy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PALETTE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60320"/>
            <a:ext cx="1645920" cy="91440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3A2E"/>
                </a:solidFill>
                <a:latin typeface="Inter"/>
              </a:rPr>
              <a:t>Forest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#1F3A2E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2560320"/>
            <a:ext cx="1645920" cy="914400"/>
          </a:xfrm>
          <a:prstGeom prst="rect">
            <a:avLst/>
          </a:prstGeom>
          <a:solidFill>
            <a:srgbClr val="142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35204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3A2E"/>
                </a:solidFill>
                <a:latin typeface="Inter"/>
              </a:rPr>
              <a:t>Forest dark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7490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#142620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2560320"/>
            <a:ext cx="1645920" cy="9144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35204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3A2E"/>
                </a:solidFill>
                <a:latin typeface="Inter"/>
              </a:rPr>
              <a:t>Cream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37490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#F5EFE6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931920"/>
            <a:ext cx="1645920" cy="914400"/>
          </a:xfrm>
          <a:prstGeom prst="rect">
            <a:avLst/>
          </a:prstGeom>
          <a:solidFill>
            <a:srgbClr val="E8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3A2E"/>
                </a:solidFill>
                <a:latin typeface="Inter"/>
              </a:rPr>
              <a:t>Cream dark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1206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#E8DFD1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77440" y="3931920"/>
            <a:ext cx="1645920" cy="914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77440" y="48920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3A2E"/>
                </a:solidFill>
                <a:latin typeface="Inter"/>
              </a:rPr>
              <a:t>Burnt orange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51206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#D97642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3931920"/>
            <a:ext cx="1645920" cy="914400"/>
          </a:xfrm>
          <a:prstGeom prst="rect">
            <a:avLst/>
          </a:prstGeom>
          <a:solidFill>
            <a:srgbClr val="B85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48920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3A2E"/>
                </a:solidFill>
                <a:latin typeface="Inter"/>
              </a:rPr>
              <a:t>Burnt dark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51206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#B85E30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194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TYPOGRAPHY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56032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F3A2E"/>
                </a:solidFill>
                <a:latin typeface="Georgia"/>
              </a:rPr>
              <a:t>Fraunces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2004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Display serif — used for headlines, wordmark, prices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84048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Inter"/>
              </a:rPr>
              <a:t>Inter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480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Sans — used for body, UI, captions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120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VOICE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440680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Direct. Warm. Anti-tourist-trap. Editorial without being pretentious. We say what we don't do as much as what we do.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8 / 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The promise + 4 selling points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11064240" cy="1097280"/>
          </a:xfrm>
          <a:prstGeom prst="round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PROMISE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EFE6"/>
                </a:solidFill>
                <a:latin typeface="Inter"/>
              </a:rPr>
              <a:t>We do the hard work of curation so you don't have to spend hours comparing options. We pick the best 3–5 packages per destination, negotiate early-booking rates, and present them transparently. You book in 5 minutes and go create memories.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57600"/>
            <a:ext cx="54406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657600"/>
            <a:ext cx="91440" cy="11430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82219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Curated, not overwhelming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0624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3–5 great options per city, not 500. Every hotel pre-vetted for location, reviews, value.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79" y="3657600"/>
            <a:ext cx="54406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79" y="3657600"/>
            <a:ext cx="91440" cy="11430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799" y="382219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Insider early-booking pricing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799" y="420624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€50 off through partnership rates. Real discount, transparent all-in pricing.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937760"/>
            <a:ext cx="54406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937760"/>
            <a:ext cx="91440" cy="11430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10235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Authentic local experiences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48640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Neighbourhoods locals actually live in. Real cafés and markets, not tourist traps.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79" y="4937760"/>
            <a:ext cx="54406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79" y="4937760"/>
            <a:ext cx="91440" cy="11430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799" y="510235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Worry-free planning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799" y="548640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Flights + hotel + itinerary coordinated. Flexible dates. Email support if questions arise.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9 / 34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The offer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5 curated European city breaks · 1.5–3 hour flights from Italy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2194560" cy="3108960"/>
          </a:xfrm>
          <a:prstGeom prst="round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468880"/>
            <a:ext cx="1828800" cy="27432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87168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5EFE6"/>
                </a:solidFill>
                <a:latin typeface="Inter"/>
              </a:rPr>
              <a:t>CLASSIC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97642"/>
                </a:solidFill>
                <a:latin typeface="Inter"/>
              </a:rPr>
              <a:t>ITALY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5EFE6"/>
                </a:solidFill>
                <a:latin typeface="Georgia"/>
              </a:rPr>
              <a:t>Rome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97642"/>
                </a:solidFill>
                <a:latin typeface="Inter"/>
              </a:rPr>
              <a:t>FROM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EFE6"/>
                </a:solidFill>
                <a:latin typeface="Inter"/>
              </a:rPr>
              <a:t>€280 · 2 nights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2286000"/>
            <a:ext cx="2194560" cy="3108960"/>
          </a:xfrm>
          <a:prstGeom prst="round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2468880"/>
            <a:ext cx="1828800" cy="27432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2487168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5EFE6"/>
                </a:solidFill>
                <a:latin typeface="Inter"/>
              </a:rPr>
              <a:t>COAST &amp; 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2926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97642"/>
                </a:solidFill>
                <a:latin typeface="Inter"/>
              </a:rPr>
              <a:t>SPAIN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24612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5EFE6"/>
                </a:solidFill>
                <a:latin typeface="Georgia"/>
              </a:rPr>
              <a:t>Barcelona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4114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97642"/>
                </a:solidFill>
                <a:latin typeface="Inter"/>
              </a:rPr>
              <a:t>FROM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43891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EFE6"/>
                </a:solidFill>
                <a:latin typeface="Inter"/>
              </a:rPr>
              <a:t>€320 · 3 nights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12079" y="2286000"/>
            <a:ext cx="2194560" cy="3108960"/>
          </a:xfrm>
          <a:prstGeom prst="round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94959" y="2468880"/>
            <a:ext cx="1828800" cy="27432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40679" y="2487168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5EFE6"/>
                </a:solidFill>
                <a:latin typeface="Inter"/>
              </a:rPr>
              <a:t>CANALS &amp;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59" y="2926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97642"/>
                </a:solidFill>
                <a:latin typeface="Inter"/>
              </a:rPr>
              <a:t>NETHERLANDS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59" y="324612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5EFE6"/>
                </a:solidFill>
                <a:latin typeface="Georgia"/>
              </a:rPr>
              <a:t>Amsterdam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59" y="4114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97642"/>
                </a:solidFill>
                <a:latin typeface="Inter"/>
              </a:rPr>
              <a:t>FROM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59" y="43891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EFE6"/>
                </a:solidFill>
                <a:latin typeface="Inter"/>
              </a:rPr>
              <a:t>€365 · 3 nights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2286000"/>
            <a:ext cx="2194560" cy="3108960"/>
          </a:xfrm>
          <a:prstGeom prst="round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26680" y="2468880"/>
            <a:ext cx="1828800" cy="27432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0" y="2487168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5EFE6"/>
                </a:solidFill>
                <a:latin typeface="Inter"/>
              </a:rPr>
              <a:t>ATLANTIC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80" y="2926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97642"/>
                </a:solidFill>
                <a:latin typeface="Inter"/>
              </a:rPr>
              <a:t>PORTUGAL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80" y="324612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5EFE6"/>
                </a:solidFill>
                <a:latin typeface="Georgia"/>
              </a:rPr>
              <a:t>Lisbon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80" y="4114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97642"/>
                </a:solidFill>
                <a:latin typeface="Inter"/>
              </a:rPr>
              <a:t>FROM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80" y="43891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EFE6"/>
                </a:solidFill>
                <a:latin typeface="Inter"/>
              </a:rPr>
              <a:t>€345 · 3 nights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75519" y="2286000"/>
            <a:ext cx="2194560" cy="3108960"/>
          </a:xfrm>
          <a:prstGeom prst="round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58399" y="2468880"/>
            <a:ext cx="1828800" cy="27432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04119" y="2487168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5EFE6"/>
                </a:solidFill>
                <a:latin typeface="Inter"/>
              </a:rPr>
              <a:t>HISTORIC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399" y="2926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97642"/>
                </a:solidFill>
                <a:latin typeface="Inter"/>
              </a:rPr>
              <a:t>CZECH REPUBLIC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399" y="324612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5EFE6"/>
                </a:solidFill>
                <a:latin typeface="Georgia"/>
              </a:rPr>
              <a:t>Prague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399" y="4114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97642"/>
                </a:solidFill>
                <a:latin typeface="Inter"/>
              </a:rPr>
              <a:t>FROM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399" y="43891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EFE6"/>
                </a:solidFill>
                <a:latin typeface="Inter"/>
              </a:rPr>
              <a:t>€295 · 2 nights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Each package includes: round-trip flight from Italian airports, 3–4 star boutique hotel, local guide &amp; itinerary suggestions. Optional add-ons: food tours, bike rentals, museum passes.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10 / 34</a:t>
            </a:r>
          </a:p>
        </p:txBody>
      </p:sp>
      <p:pic>
        <p:nvPicPr>
          <p:cNvPr id="45" name="Picture 44" descr="destinations-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676" y="411480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5EFE6"/>
                </a:solidFill>
                <a:latin typeface="Georgia"/>
              </a:rPr>
              <a:t>Coupon mechanic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EFE6"/>
                </a:solidFill>
                <a:latin typeface="Inter"/>
              </a:rPr>
              <a:t>BB50 — built to drive lead capture, not race-to-the-bottom pricing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5486400" cy="3840480"/>
          </a:xfrm>
          <a:prstGeom prst="round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MECHANIC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D97642"/>
                </a:solidFill>
                <a:latin typeface="Georgia"/>
              </a:rPr>
              <a:t>€50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976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off bookings from €300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548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Code: BB50  ·  Valid 90 days  ·  One per customer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16636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Travel dates 1 Jun – 31 Dec 2026.</a:t>
            </a:r>
          </a:p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Excl. 23–31 Dec, 31 Dec – 2 Jan, 10–20 Aug.</a:t>
            </a:r>
          </a:p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Not combinable with other offers.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286000"/>
            <a:ext cx="5303520" cy="3840480"/>
          </a:xfrm>
          <a:prstGeom prst="round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4688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WHY THIS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834640"/>
            <a:ext cx="49377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€300 minimum: realistic floor for flight + hotel city break.</a:t>
            </a:r>
          </a:p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/>
            </a:r>
          </a:p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€50 = 16.7% — meaningful but doesn't devalue the brand.</a:t>
            </a:r>
          </a:p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/>
            </a:r>
          </a:p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90-day validity: matches Italian booking cycle (2–4 months ahead) without inducing urgency paralysis.</a:t>
            </a:r>
          </a:p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/>
            </a:r>
          </a:p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Required email + GDPR consent → coupon = the lead-magnet logic.</a:t>
            </a:r>
          </a:p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/>
            </a:r>
          </a:p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One-per-customer prevents stockpiling, supports clean reporting.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5EFE6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F5EFE6"/>
                </a:solidFill>
                <a:latin typeface="Inter"/>
              </a:rPr>
              <a:t>11 / 34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The funnel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From paid impression to booking — and where each KPI sits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1828800" cy="1828800"/>
          </a:xfrm>
          <a:prstGeom prst="round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5EFE6"/>
                </a:solidFill>
                <a:latin typeface="Inter"/>
              </a:rPr>
              <a:t>IMPRESSIONS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5EFE6"/>
                </a:solidFill>
                <a:latin typeface="Georgia"/>
              </a:rPr>
              <a:t>150–180k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F5EFE6"/>
                </a:solidFill>
                <a:latin typeface="Inter"/>
              </a:rPr>
              <a:t>Meta + Google 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333756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D97642"/>
                </a:solidFill>
                <a:latin typeface="Inter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2542031"/>
            <a:ext cx="1828800" cy="1682496"/>
          </a:xfrm>
          <a:prstGeom prst="round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2679191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5EFE6"/>
                </a:solidFill>
                <a:latin typeface="Inter"/>
              </a:rPr>
              <a:t>CLICKS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999231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5EFE6"/>
                </a:solidFill>
                <a:latin typeface="Georgia"/>
              </a:rPr>
              <a:t>1.5–2k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639311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F5EFE6"/>
                </a:solidFill>
                <a:latin typeface="Inter"/>
              </a:rPr>
              <a:t>CTR ~1%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333756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D97642"/>
                </a:solidFill>
                <a:latin typeface="Inter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2615184"/>
            <a:ext cx="1828800" cy="1536192"/>
          </a:xfrm>
          <a:prstGeom prst="round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75234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5EFE6"/>
                </a:solidFill>
                <a:latin typeface="Inter"/>
              </a:rPr>
              <a:t>LANDING VISITS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072384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5EFE6"/>
                </a:solidFill>
                <a:latin typeface="Georgia"/>
              </a:rPr>
              <a:t>5,000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71246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F5EFE6"/>
                </a:solidFill>
                <a:latin typeface="Inter"/>
              </a:rPr>
              <a:t>KPI #1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333756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D97642"/>
                </a:solidFill>
                <a:latin typeface="Inter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688336"/>
            <a:ext cx="1828800" cy="1389888"/>
          </a:xfrm>
          <a:prstGeom prst="round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2825496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5EFE6"/>
                </a:solidFill>
                <a:latin typeface="Inter"/>
              </a:rPr>
              <a:t>COUPON DOWNLOADS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145536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5EFE6"/>
                </a:solidFill>
                <a:latin typeface="Georgia"/>
              </a:rPr>
              <a:t>400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785616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F5EFE6"/>
                </a:solidFill>
                <a:latin typeface="Inter"/>
              </a:rPr>
              <a:t>KPI #2 · 8% CVR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333756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D97642"/>
                </a:solidFill>
                <a:latin typeface="Inter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2761488"/>
            <a:ext cx="1828800" cy="1243584"/>
          </a:xfrm>
          <a:prstGeom prst="round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289864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5EFE6"/>
                </a:solidFill>
                <a:latin typeface="Inter"/>
              </a:rPr>
              <a:t>EMAIL LEADS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218688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5EFE6"/>
                </a:solidFill>
                <a:latin typeface="Georgia"/>
              </a:rPr>
              <a:t>300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85876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F5EFE6"/>
                </a:solidFill>
                <a:latin typeface="Inter"/>
              </a:rPr>
              <a:t>KPI #3 · 6% CVR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333756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D97642"/>
                </a:solidFill>
                <a:latin typeface="Inter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49840" y="2834640"/>
            <a:ext cx="1828800" cy="1097280"/>
          </a:xfrm>
          <a:prstGeom prst="round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49840" y="2971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5EFE6"/>
                </a:solidFill>
                <a:latin typeface="Inter"/>
              </a:rPr>
              <a:t>BOOKINGS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0" y="32918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5EFE6"/>
                </a:solidFill>
                <a:latin typeface="Georgia"/>
              </a:rPr>
              <a:t>~30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40" y="39319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F5EFE6"/>
                </a:solidFill>
                <a:latin typeface="Inter"/>
              </a:rPr>
              <a:t>10% nurture conv.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937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€2,000 spend ÷ 300 leads = €6.67 CPL · ROI tracked over 90 days as nurtured leads convert to bookings.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12 / 34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Landing page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Single-purpose page optimised for one action: download the coupon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40280"/>
            <a:ext cx="45720" cy="77724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Sticky nav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Wordmark · Destinations · How it works · Blog · Measurement · EN/IT toggle · Coupon CTA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79" y="2240280"/>
            <a:ext cx="45720" cy="77724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59" y="219456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Hero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59" y="251460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Eyebrow tag · headline ("Skip the research fatigue") · subheadline · dual CTA · trust 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45720" cy="77724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15468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Value pillars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7472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4 pillars on dark forest background — curation, transparency, authentic, worry-free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79" y="3200400"/>
            <a:ext cx="45720" cy="77724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59" y="315468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Destinations grid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347472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5 cards · image · country · city · from-price · clickable to scroll to form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160520"/>
            <a:ext cx="45720" cy="77724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1148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How it 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43484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3 steps · claim coupon → pick city → book and go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79" y="4160520"/>
            <a:ext cx="45720" cy="77724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59" y="41148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Social proof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59" y="443484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4 stats: 500+ hotels vetted · 5 min to book · 0 hidden fees · €50 off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120640"/>
            <a:ext cx="45720" cy="77724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0749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Lead capture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39496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Form: name · email · departure city · destination interest · GDPR consent · CTA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79" y="5120640"/>
            <a:ext cx="45720" cy="77724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59" y="50749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Footer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59" y="539496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Wordmark · navigation · privacy · terms · academic project credit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13 / 34</a:t>
            </a:r>
          </a:p>
        </p:txBody>
      </p:sp>
      <p:pic>
        <p:nvPicPr>
          <p:cNvPr id="33" name="Picture 32" descr="home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916" y="3657600"/>
            <a:ext cx="438912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Site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Every route the campaign serves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28600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426720"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Route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Purpose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</a:tr>
              <a:tr h="42672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Italian primary landing page (EN toggle)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/grazie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Thank-you page · BB50 displayed · PDF download · GA4 conversion event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42672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/measurement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Public measurement plan (this deck, on the live site)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/blog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SEO hub — 3 posts on weekend itineraries, booking timing, destination comparisons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42672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/blog/[slug]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Individual post pages with CTA back to coupon 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/privacy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GDPR privacy policy + cookie disclosures + coupon T&amp;Cs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42672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/api/lead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Server endpoint accepting form submissions, forwarding to ESP webhook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/backpack-bottle-coupon-BB50.pdf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Branded one-page coupon PDF served from /public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Built on Next.js 14 (App Router) + TypeScript + Tailwind, deployed on Vercel.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14 / 34</a:t>
            </a:r>
          </a:p>
        </p:txBody>
      </p:sp>
      <p:pic>
        <p:nvPicPr>
          <p:cNvPr id="11" name="Picture 10" descr="github-re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3993" y="2194560"/>
            <a:ext cx="186096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5EFE6"/>
                </a:solidFill>
                <a:latin typeface="Georgia"/>
              </a:rPr>
              <a:t>Tracking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EFE6"/>
                </a:solidFill>
                <a:latin typeface="Inter"/>
              </a:rPr>
              <a:t>One container. Every tag. Consent-aware.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EFE6"/>
                </a:solidFill>
                <a:latin typeface="Inter"/>
              </a:rPr>
              <a:t>All marketing tags fire through a single GTM container. Each user interaction pushes a named event into window.dataLayer. GTM listens, fires GA4 + Meta Pixel + Google Ads. Consent Mode v2 blocks marketing storage until consent is granted.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17520"/>
            <a:ext cx="11064240" cy="3291840"/>
          </a:xfrm>
          <a:prstGeom prst="roundRect">
            <a:avLst/>
          </a:prstGeom>
          <a:solidFill>
            <a:srgbClr val="142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105156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User action (click / scroll / submit / page load)</a:t>
            </a:r>
          </a:p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                         │</a:t>
            </a:r>
          </a:p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                         ▼</a:t>
            </a:r>
          </a:p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    window.dataLayer.push({event: 'coupon_download', value: 50, ...})</a:t>
            </a:r>
          </a:p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                         │</a:t>
            </a:r>
          </a:p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                         ▼</a:t>
            </a:r>
          </a:p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 ┌────────────────────────────────────────────────────────────┐</a:t>
            </a:r>
          </a:p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 │  Google Tag Manager   (GTM-XXXXXXX)                         │</a:t>
            </a:r>
          </a:p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 │  • Trigger: Custom Event = coupon_download                  │</a:t>
            </a:r>
          </a:p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 │  • Variables read: coupon_code · value · currency · destination │</a:t>
            </a:r>
          </a:p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 │  • Consent gate: ad_storage = granted required              │</a:t>
            </a:r>
          </a:p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 └─────────┬──────────────────┬──────────────────┬─────────────┘</a:t>
            </a:r>
          </a:p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           ▼                  ▼                  ▼</a:t>
            </a:r>
          </a:p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      [GA4 event]        [Meta Lead]      [Google Ads conv.]</a:t>
            </a:r>
          </a:p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       G-XXXXXX           Pixel ID         AW-XXXXXX/abcd</a:t>
            </a:r>
          </a:p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           │                  │                  │</a:t>
            </a:r>
          </a:p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           ▼                  ▼                  ▼</a:t>
            </a:r>
          </a:p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      Looker Studio    Retargeting aud.   Conversion import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5EFE6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F5EFE6"/>
                </a:solidFill>
                <a:latin typeface="Inter"/>
              </a:rPr>
              <a:t>15 / 34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dataLayer event schema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Every custom event the site fires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19456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 lIns="73152" rIns="73152"/>
                    <a:lstStyle/>
                    <a:p>
                      <a:r>
                        <a:rPr b="1" sz="1000">
                          <a:solidFill>
                            <a:srgbClr val="F5EFE6"/>
                          </a:solidFill>
                          <a:latin typeface="Inter"/>
                        </a:rPr>
                        <a:t>Event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000">
                          <a:solidFill>
                            <a:srgbClr val="F5EFE6"/>
                          </a:solidFill>
                          <a:latin typeface="Inter"/>
                        </a:rPr>
                        <a:t>Trigger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000">
                          <a:solidFill>
                            <a:srgbClr val="F5EFE6"/>
                          </a:solidFill>
                          <a:latin typeface="Inter"/>
                        </a:rPr>
                        <a:t>Parameters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000">
                          <a:solidFill>
                            <a:srgbClr val="F5EFE6"/>
                          </a:solidFill>
                          <a:latin typeface="Inter"/>
                        </a:rPr>
                        <a:t>Purpose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page_view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Auto via GA4 Enhanced Measurement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page_location, page_title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Funnel entry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scroll_75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GTM Scroll Depth trigger 75%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percent_scrolled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Engagement quality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cta_click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Hero, nav, blog CTAs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location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Intent signal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destination_card_click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Destination card click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destination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Custom dim destination_interest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form_start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First form-field focus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form: coupon_lead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Form abandonment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form_submit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POST /api/lead success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form, destination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GA4 lead conversion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coupon_download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After submit + direct PDF download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coupon_code, value, currency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Primary conversion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thank_you_view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/grazie page load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value, currency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Backup conversion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consent_update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Cookie banner choice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ad_storage, analytics_storage, ad_user_data, ad_personalization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Consent Mode 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visit_count_set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Every page load (localStorage)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visit_count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User property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16 / 34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GTM tag inventory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Every tag the container ships, what it does, when it fires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19456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 lIns="73152" rIns="73152"/>
                    <a:lstStyle/>
                    <a:p>
                      <a:r>
                        <a:rPr b="1" sz="1000">
                          <a:solidFill>
                            <a:srgbClr val="F5EFE6"/>
                          </a:solidFill>
                          <a:latin typeface="Inter"/>
                        </a:rPr>
                        <a:t>Tag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000">
                          <a:solidFill>
                            <a:srgbClr val="F5EFE6"/>
                          </a:solidFill>
                          <a:latin typeface="Inter"/>
                        </a:rPr>
                        <a:t>Trigger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000">
                          <a:solidFill>
                            <a:srgbClr val="F5EFE6"/>
                          </a:solidFill>
                          <a:latin typeface="Inter"/>
                        </a:rPr>
                        <a:t>Purpose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GA4 Configuration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All Pages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Pageviews + base config to property G-XXXXXXXXXX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GA4 Event — coupon_download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Custom Event = coupon_download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Marked as conversion in GA4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GA4 Event — form_submit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Custom Event = form_submit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Lead-stage conversion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GA4 Event — cta_click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Custom Event = cta_click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Engagement tracking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GA4 Event — scroll_75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Custom Event = scroll_75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Engagement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Meta Pixel — Base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All Pages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PageView for retargeting audiences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Meta Pixel —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Custom Event = form_submit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Optimisation event for Meta 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Meta Pixel — CompleteRegistration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Custom Event = coupon_download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Bottom-funnel signal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Google Ads — Lead conversion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Custom Event = coupon_download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Value 50 EUR; imported into Google 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Google Ads — Remarketing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All Pages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Audience builder for retargeting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17 / 34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5EFE6"/>
                </a:solidFill>
                <a:latin typeface="Georgia"/>
              </a:rPr>
              <a:t>Consent Mode v2 (GDPR)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EFE6"/>
                </a:solidFill>
                <a:latin typeface="Inter"/>
              </a:rPr>
              <a:t>Default-denied. Privacy-first. Audit-ready.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EFE6"/>
                </a:solidFill>
                <a:latin typeface="Inter"/>
              </a:rPr>
              <a:t>Before GTM loads, gtag('consent', 'default', ...) sets all four signals to denied. The cookie banner asks the user. On Accept, a consent_update event flips signals to granted; pending tags execute.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10896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75488"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Signal</a:t>
                      </a:r>
                    </a:p>
                  </a:txBody>
                  <a:tcPr>
                    <a:solidFill>
                      <a:srgbClr val="D97642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Default state</a:t>
                      </a:r>
                    </a:p>
                  </a:txBody>
                  <a:tcPr>
                    <a:solidFill>
                      <a:srgbClr val="D97642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After accept</a:t>
                      </a:r>
                    </a:p>
                  </a:txBody>
                  <a:tcPr>
                    <a:solidFill>
                      <a:srgbClr val="D97642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Controls</a:t>
                      </a:r>
                    </a:p>
                  </a:txBody>
                  <a:tcPr>
                    <a:solidFill>
                      <a:srgbClr val="D97642"/>
                    </a:solidFill>
                  </a:tcPr>
                </a:tc>
              </a:tr>
              <a:tr h="475488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ad_storage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denied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granted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Meta Pixel · Google Ads cookies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analytics_storage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denied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granted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GA4 cookies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475488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ad_user_data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denied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granted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User-data signals to Google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ad_personalization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denied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granted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Personalised ads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EFE6"/>
                </a:solidFill>
                <a:latin typeface="Inter"/>
              </a:rPr>
              <a:t>Even with Reject, GA4 receives consent-modeled pings (no cookies) so totals are still observable in aggregate — Google's recommended setup.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5EFE6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F5EFE6"/>
                </a:solidFill>
                <a:latin typeface="Inter"/>
              </a:rPr>
              <a:t>18 / 34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KPI definitions &amp; targets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9456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47040"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KPI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Target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Rationale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Source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</a:tr>
              <a:tr h="44704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Landing page visits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€2,000 ÷ €0.40 blended CPC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GA4 sessions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Coupon downloads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400 (8% CVR)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Travel lead-magnet benchmark 5–10%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GA4 coupon_download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44704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Lead form submissions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300 (6% CVR)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Industry standard for gated content 5–8%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GA4 form_submit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Conversion rate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6–8%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(downloads + forms) ÷ visits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Calculated metric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44704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Cost per lead (CPL)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€6.67 avg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Travel sector typical €10–50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Spend ÷ leads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Email list growth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400+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Net new subscribers from campaign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ESP report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44704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Email open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Travel industry avg 30–35%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ESP 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Click-to-open rate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20%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Travel industry avg 15–25%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ESP report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19 / 34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5EFE6"/>
                </a:solidFill>
                <a:latin typeface="Georgia"/>
              </a:rPr>
              <a:t>Media plan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EFE6"/>
                </a:solidFill>
                <a:latin typeface="Inter"/>
              </a:rPr>
              <a:t>Where the €2,000 goes and why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EFE6"/>
                </a:solidFill>
                <a:latin typeface="Inter"/>
              </a:rPr>
              <a:t>Two channels. One job each. Meta drives discovery + retargeting; Google captures active intent.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26080"/>
            <a:ext cx="5486400" cy="3291840"/>
          </a:xfrm>
          <a:prstGeom prst="round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97642"/>
                </a:solidFill>
                <a:latin typeface="Inter"/>
              </a:rPr>
              <a:t>META ADS · 60%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1F3A2E"/>
                </a:solidFill>
                <a:latin typeface="Georgia"/>
              </a:rPr>
              <a:t>€1,200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97680"/>
            <a:ext cx="49377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Courier New"/>
              </a:rPr>
              <a:t>Awareness:    €300  · Carousel ads, broad reach</a:t>
            </a:r>
          </a:p>
          <a:p>
            <a:pPr algn="l"/>
            <a:r>
              <a:rPr sz="1000" b="0">
                <a:solidFill>
                  <a:srgbClr val="1F3A2E"/>
                </a:solidFill>
                <a:latin typeface="Courier New"/>
              </a:rPr>
              <a:t>Lead Gen:     €600  · Conversion-optimised, interest targeting</a:t>
            </a:r>
          </a:p>
          <a:p>
            <a:pPr algn="l"/>
            <a:r>
              <a:rPr sz="1000" b="0">
                <a:solidFill>
                  <a:srgbClr val="1F3A2E"/>
                </a:solidFill>
                <a:latin typeface="Courier New"/>
              </a:rPr>
              <a:t>Retargeting:  €300  · Dynamic ads for site visitors</a:t>
            </a:r>
          </a:p>
          <a:p>
            <a:pPr algn="l"/>
            <a:r>
              <a:rPr sz="1000" b="0">
                <a:solidFill>
                  <a:srgbClr val="1F3A2E"/>
                </a:solidFill>
                <a:latin typeface="Courier New"/>
              </a:rPr>
              <a:t/>
            </a:r>
          </a:p>
          <a:p>
            <a:pPr algn="l"/>
            <a:r>
              <a:rPr sz="1000" b="0">
                <a:solidFill>
                  <a:srgbClr val="1F3A2E"/>
                </a:solidFill>
                <a:latin typeface="Courier New"/>
              </a:rPr>
              <a:t>Expected: 150–180k impressions · 1.5–2k clicks</a:t>
            </a:r>
          </a:p>
          <a:p>
            <a:pPr algn="l"/>
            <a:r>
              <a:rPr sz="1000" b="0">
                <a:solidFill>
                  <a:srgbClr val="1F3A2E"/>
                </a:solidFill>
                <a:latin typeface="Courier New"/>
              </a:rPr>
              <a:t>3.5–4k LP visits · 200–250 leads at ~€6 CPL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926080"/>
            <a:ext cx="5486400" cy="3291840"/>
          </a:xfrm>
          <a:prstGeom prst="round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108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97642"/>
                </a:solidFill>
                <a:latin typeface="Inter"/>
              </a:rPr>
              <a:t>GOOGLE ADS · 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474720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1F3A2E"/>
                </a:solidFill>
                <a:latin typeface="Georgia"/>
              </a:rPr>
              <a:t>€800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297680"/>
            <a:ext cx="49377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Courier New"/>
              </a:rPr>
              <a:t>Branded:    €100  · Protect brand-name searches</a:t>
            </a:r>
          </a:p>
          <a:p>
            <a:pPr algn="l"/>
            <a:r>
              <a:rPr sz="1000" b="0">
                <a:solidFill>
                  <a:srgbClr val="1F3A2E"/>
                </a:solidFill>
                <a:latin typeface="Courier New"/>
              </a:rPr>
              <a:t>Generic:    €500  · "weekend Barcellona", "viaggi economici"</a:t>
            </a:r>
          </a:p>
          <a:p>
            <a:pPr algn="l"/>
            <a:r>
              <a:rPr sz="1000" b="0">
                <a:solidFill>
                  <a:srgbClr val="1F3A2E"/>
                </a:solidFill>
                <a:latin typeface="Courier New"/>
              </a:rPr>
              <a:t>Competitor: €200  · "volagratis alternative"</a:t>
            </a:r>
          </a:p>
          <a:p>
            <a:pPr algn="l"/>
            <a:r>
              <a:rPr sz="1000" b="0">
                <a:solidFill>
                  <a:srgbClr val="1F3A2E"/>
                </a:solidFill>
                <a:latin typeface="Courier New"/>
              </a:rPr>
              <a:t/>
            </a:r>
          </a:p>
          <a:p>
            <a:pPr algn="l"/>
            <a:r>
              <a:rPr sz="1000" b="0">
                <a:solidFill>
                  <a:srgbClr val="1F3A2E"/>
                </a:solidFill>
                <a:latin typeface="Courier New"/>
              </a:rPr>
              <a:t>Expected: 400–700 clicks at €1.50–2.50 CPC</a:t>
            </a:r>
          </a:p>
          <a:p>
            <a:pPr algn="l"/>
            <a:r>
              <a:rPr sz="1000" b="0">
                <a:solidFill>
                  <a:srgbClr val="1F3A2E"/>
                </a:solidFill>
                <a:latin typeface="Courier New"/>
              </a:rPr>
              <a:t>1–1.5k LP visits · 70–100 leads at ~€8 CPL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5EFE6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F5EFE6"/>
                </a:solidFill>
                <a:latin typeface="Inter"/>
              </a:rPr>
              <a:t>20 / 34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Meta Ads — campaign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Italian millennials spend 2–3 hours daily on Instagram &amp; Facebook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28600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800100">
                <a:tc>
                  <a:txBody>
                    <a:bodyPr lIns="73152" rIns="73152"/>
                    <a:lstStyle/>
                    <a:p>
                      <a:r>
                        <a:rPr b="1" sz="1000">
                          <a:solidFill>
                            <a:srgbClr val="F5EFE6"/>
                          </a:solidFill>
                          <a:latin typeface="Inter"/>
                        </a:rPr>
                        <a:t>Sub-campaign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000">
                          <a:solidFill>
                            <a:srgbClr val="F5EFE6"/>
                          </a:solidFill>
                          <a:latin typeface="Inter"/>
                        </a:rPr>
                        <a:t>Budget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000">
                          <a:solidFill>
                            <a:srgbClr val="F5EFE6"/>
                          </a:solidFill>
                          <a:latin typeface="Inter"/>
                        </a:rPr>
                        <a:t>Audience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000">
                          <a:solidFill>
                            <a:srgbClr val="F5EFE6"/>
                          </a:solidFill>
                          <a:latin typeface="Inter"/>
                        </a:rPr>
                        <a:t>Creative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000">
                          <a:solidFill>
                            <a:srgbClr val="F5EFE6"/>
                          </a:solidFill>
                          <a:latin typeface="Inter"/>
                        </a:rPr>
                        <a:t>Optimisation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</a:tr>
              <a:tr h="80010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Brand Awareness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€300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Italian millennials 25–39, urban, travel interests + lookalike of website visitors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Carousel ads showcasing 5 destinations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Reach + Engagement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Lead Generation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€600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Conversion-optimised; interests: travel, weekend trips, food &amp; wine, lookalikes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Single-image ads + video; CTA: Get the coupon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Coupon Lead conversion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80010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Retargeting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€300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Site visitors past 30 days who didn't submit 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Dynamic ads with destination viewed + €50 reminder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Coupon Lead conversion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Italy Meta CPM €6–9 · CPC ~€1.05 · Travel CPC even lower (€0.63–1.86). Visual platform fits destination marketing.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21 / 34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Google Ads — campaign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Capture active intent · branded protection · competitor displacement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28600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685800">
                <a:tc>
                  <a:txBody>
                    <a:bodyPr lIns="73152" rIns="73152"/>
                    <a:lstStyle/>
                    <a:p>
                      <a:r>
                        <a:rPr b="1" sz="1000">
                          <a:solidFill>
                            <a:srgbClr val="F5EFE6"/>
                          </a:solidFill>
                          <a:latin typeface="Inter"/>
                        </a:rPr>
                        <a:t>Sub-campaign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000">
                          <a:solidFill>
                            <a:srgbClr val="F5EFE6"/>
                          </a:solidFill>
                          <a:latin typeface="Inter"/>
                        </a:rPr>
                        <a:t>Budget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000">
                          <a:solidFill>
                            <a:srgbClr val="F5EFE6"/>
                          </a:solidFill>
                          <a:latin typeface="Inter"/>
                        </a:rPr>
                        <a:t>Keywords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000">
                          <a:solidFill>
                            <a:srgbClr val="F5EFE6"/>
                          </a:solidFill>
                          <a:latin typeface="Inter"/>
                        </a:rPr>
                        <a:t>Strategy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000">
                          <a:solidFill>
                            <a:srgbClr val="F5EFE6"/>
                          </a:solidFill>
                          <a:latin typeface="Inter"/>
                        </a:rPr>
                        <a:t>Optimisation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</a:tr>
              <a:tr h="68580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Branded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€100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"backpack &amp; bottle", "backpack and bottle"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Defensive — protect from competitor bidding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Branded conversions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Generic Travel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€500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"weekend a Barcellona", "viaggi economici Europa", "city break Praga"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Capture high-intent research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Lead conversion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68580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Competitor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€200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"volagratis alternativa", "lastminute recensioni"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Win audiences disillusioned with budget OTAs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Lead conversion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212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Expected: 400–700 clicks · €1.50–2.50 CPC · 70–100 leads at ~€8 CPL.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Why higher CPL on Google: search intent users are more price-comparing. We accept higher CPL because they convert to bookings at 2× the rate of social leads.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22 / 34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Channels we did not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And why excluding them is a strategic choice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28600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457200">
                <a:tc>
                  <a:txBody>
                    <a:bodyPr lIns="73152" rIns="73152"/>
                    <a:lstStyle/>
                    <a:p>
                      <a:r>
                        <a:rPr b="1" sz="1200">
                          <a:solidFill>
                            <a:srgbClr val="F5EFE6"/>
                          </a:solidFill>
                          <a:latin typeface="Inter"/>
                        </a:rPr>
                        <a:t>Channel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200">
                          <a:solidFill>
                            <a:srgbClr val="F5EFE6"/>
                          </a:solidFill>
                          <a:latin typeface="Inter"/>
                        </a:rPr>
                        <a:t>Reason for exclusion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</a:tr>
              <a:tr h="457200"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Inter"/>
                        </a:rPr>
                        <a:t>Display / programmatic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Inter"/>
                        </a:rPr>
                        <a:t>Too low intent, high wastage on banner 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Inter"/>
                        </a:rPr>
                        <a:t>TikTok paid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Inter"/>
                        </a:rPr>
                        <a:t>Audience skews younger (Gen Z) with lower booking propensity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457200"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Inter"/>
                        </a:rPr>
                        <a:t>Influencer partnerships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Inter"/>
                        </a:rPr>
                        <a:t>Outside €2,000 budget; would dilute the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Inter"/>
                        </a:rPr>
                        <a:t>Affiliate / referral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Inter"/>
                        </a:rPr>
                        <a:t>Requires existing brand awareness we don't have yet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457200"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Inter"/>
                        </a:rPr>
                        <a:t>Print / OOH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Inter"/>
                        </a:rPr>
                        <a:t>Audience is digital-first; ROI invisible at this 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Inter"/>
                        </a:rPr>
                        <a:t>Email purchase lists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Inter"/>
                        </a:rPr>
                        <a:t>GDPR violation + brand reputation risk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23 / 34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5EFE6"/>
                </a:solidFill>
                <a:latin typeface="Georgia"/>
              </a:rPr>
              <a:t>Budget breakdown &amp; pacing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5486400" cy="4114800"/>
          </a:xfrm>
          <a:prstGeom prst="round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ALLOCATION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Meta 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7889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€1,200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7889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D97642"/>
                </a:solidFill>
                <a:latin typeface="Inter"/>
              </a:rPr>
              <a:t>60%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004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Google Ads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2004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€800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2004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D97642"/>
                </a:solidFill>
                <a:latin typeface="Inter"/>
              </a:rPr>
              <a:t>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118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Total Paid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6118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€2,000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6118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233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Owned/Organic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40233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€0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0233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D97642"/>
                </a:solidFill>
                <a:latin typeface="Inter"/>
              </a:rPr>
              <a:t>Internal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5720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ADDITIONAL COSTS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937760"/>
            <a:ext cx="49377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Courier New"/>
              </a:rPr>
              <a:t>Domain + hosting:  €0  (Vercel hobby + .vercel.app)</a:t>
            </a:r>
          </a:p>
          <a:p>
            <a:pPr algn="l"/>
            <a:r>
              <a:rPr sz="1000" b="0">
                <a:solidFill>
                  <a:srgbClr val="1F3A2E"/>
                </a:solidFill>
                <a:latin typeface="Courier New"/>
              </a:rPr>
              <a:t>Email platform:    €0–50/mo  (Mailchimp free / Klaviyo)</a:t>
            </a:r>
          </a:p>
          <a:p>
            <a:pPr algn="l"/>
            <a:r>
              <a:rPr sz="1000" b="0">
                <a:solidFill>
                  <a:srgbClr val="1F3A2E"/>
                </a:solidFill>
                <a:latin typeface="Courier New"/>
              </a:rPr>
              <a:t>Stock images:      €0  (Unsplash free licence)</a:t>
            </a:r>
          </a:p>
          <a:p>
            <a:pPr algn="l"/>
            <a:r>
              <a:rPr sz="1000" b="0">
                <a:solidFill>
                  <a:srgbClr val="1F3A2E"/>
                </a:solidFill>
                <a:latin typeface="Courier New"/>
              </a:rPr>
              <a:t>Creative production: €0  (in-house)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2194560"/>
            <a:ext cx="5486400" cy="4114800"/>
          </a:xfrm>
          <a:prstGeom prst="round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3774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PACING (6 WEEKS)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7889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Week 1–2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27889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D97642"/>
                </a:solidFill>
                <a:latin typeface="Inter"/>
              </a:rPr>
              <a:t>€300/wk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1089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Testing — multiple audiences + creatives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657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Week 3–4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36576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D97642"/>
                </a:solidFill>
                <a:latin typeface="Inter"/>
              </a:rPr>
              <a:t>€400/wk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9776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Scaling — double down on winners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5262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Week 5–6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5262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D97642"/>
                </a:solidFill>
                <a:latin typeface="Inter"/>
              </a:rPr>
              <a:t>€300/wk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8463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Optimisation — efficiency push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48640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ROI framework: 300 leads × 10% nurture-to-booking × €400 avg booking × 10% commission = €1,200 directly attributable revenue. Lead gen — true ROI realised over 90-day coupon validity.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5EFE6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F5EFE6"/>
                </a:solidFill>
                <a:latin typeface="Inter"/>
              </a:rPr>
              <a:t>24 / 34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Campaign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8 weeks total · Launch 5 May · Active 5 May – 15 June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19456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42900">
                <a:tc>
                  <a:txBody>
                    <a:bodyPr lIns="73152" rIns="73152"/>
                    <a:lstStyle/>
                    <a:p>
                      <a:r>
                        <a:rPr b="1" sz="900">
                          <a:solidFill>
                            <a:srgbClr val="F5EFE6"/>
                          </a:solidFill>
                          <a:latin typeface="Inter"/>
                        </a:rPr>
                        <a:t>Phase · dates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900">
                          <a:solidFill>
                            <a:srgbClr val="F5EFE6"/>
                          </a:solidFill>
                          <a:latin typeface="Inter"/>
                        </a:rPr>
                        <a:t>Theme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900">
                          <a:solidFill>
                            <a:srgbClr val="F5EFE6"/>
                          </a:solidFill>
                          <a:latin typeface="Inter"/>
                        </a:rPr>
                        <a:t>Activities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</a:tr>
              <a:tr h="342900"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Pre-launch · Week 1 (Apr 1–7)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Foundation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Strategy lock, GTM container creation, GA4 property, Meta Business Manager + Pixel install, Google Ads account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Pre-launch · Week 2 (Apr 8–14)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Content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Landing page copy, hero image selection, blog posts, ad creative, email templates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342900"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Pre-launch · Week 3 (Apr 15–21)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Full tracking QA, form-to-ESP wire-up, double opt-in, Looker dashboard build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Pre-launch · Week 4 (Apr 22–30)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Testing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Cross-device QA, dataLayer event verification, conversion test, soft-launch to small audience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342900"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Active · Week 1 (May 5–11)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Soft launch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Monitor closely, gather data, fix issues fast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Active · Week 2 (May 12–18)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Data collection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Identify winning audiences and creatives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342900"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Active · Week 3 (May 19–25)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Scaling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Pause losers, double budget on winners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Active · Week 4 (May 26–Jun 1)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Peak performance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Maximise volume at target CPL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342900"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Active · Week 5 (Jun 2–8)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Optimisation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Fine-tune efficiency, lower CPL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Active · Week 6 (Jun 9–15)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Final push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Hit goals, exhaust budget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342900"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Post · Week 7 (Jun 16–22)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Final report, KPI verdict, learnings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25 / 34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5EFE6"/>
                </a:solidFill>
                <a:latin typeface="Georgia"/>
              </a:rPr>
              <a:t>Email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EFE6"/>
                </a:solidFill>
                <a:latin typeface="Inter"/>
              </a:rPr>
              <a:t>What happens after the user submits the form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19456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When</a:t>
                      </a:r>
                    </a:p>
                  </a:txBody>
                  <a:tcPr>
                    <a:solidFill>
                      <a:srgbClr val="D97642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Email</a:t>
                      </a:r>
                    </a:p>
                  </a:txBody>
                  <a:tcPr>
                    <a:solidFill>
                      <a:srgbClr val="D97642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Content</a:t>
                      </a:r>
                    </a:p>
                  </a:txBody>
                  <a:tcPr>
                    <a:solidFill>
                      <a:srgbClr val="D97642"/>
                    </a:solidFill>
                  </a:tcPr>
                </a:tc>
              </a:tr>
              <a:tr h="50292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T+0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Coupon delivery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BB50 + PDF guide attached. Confirms double opt-in if required.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T+1 day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Welcome email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Brand intro · 5 destinations briefly · soft CTA to first city.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50292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T+3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Destination spotlight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Deep dive on the destination they selected as 'most curious'.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T+7 days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Booking psychology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Why booking 6–8 weeks ahead is the sweet spot (links to blog post).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50292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Weekly (Tue 10am)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Deal alert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One curated package, one reason to act now, transparent pricing.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T-30, T-7, T-1 days before expiry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Coupon expiry reminders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Soft reminder · stronger urgency · final day.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50292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T+30 days, no booking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Re-engagement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Different angle: "What's stopping you?" with FAQ + support contact.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EFE6"/>
                </a:solidFill>
                <a:latin typeface="Inter"/>
              </a:rPr>
              <a:t>Tooling: Brevo (newsletter@backpackandbottle.com); would migrate to Klaviyo if migrating at scale for behaviour-triggered flows.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5EFE6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F5EFE6"/>
                </a:solidFill>
                <a:latin typeface="Inter"/>
              </a:rPr>
              <a:t>26 / 34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Looker Studio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6B62"/>
                </a:solidFill>
                <a:latin typeface="Helvetica"/>
              </a:rPr>
              <a:t>What we look at every morning during the campaign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2377440"/>
            <a:ext cx="8531352" cy="3657600"/>
          </a:xfrm>
          <a:prstGeom prst="rect">
            <a:avLst/>
          </a:prstGeom>
          <a:solidFill>
            <a:srgbClr val="E8E0D0"/>
          </a:solidFill>
          <a:ln>
            <a:solidFill>
              <a:srgbClr val="D97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3017520"/>
            <a:ext cx="85313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5A6B62"/>
                </a:solidFill>
                <a:latin typeface="Helvetica"/>
              </a:rPr>
              <a:t>[ Live dashboard screenshot to be inserted on launch day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657600"/>
            <a:ext cx="85313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F3A2E"/>
                </a:solidFill>
                <a:latin typeface="Helvetica"/>
              </a:rPr>
              <a:t>Built in Looker Studio · 6 panels · refreshes every 12 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114800"/>
            <a:ext cx="85313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D97642"/>
                </a:solidFill>
                <a:latin typeface="Helvetica"/>
              </a:rPr>
              <a:t>Acquisition  ·  Funnel  ·  Cost  ·  Audience  ·  Engagement  ·  Coupon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846320"/>
            <a:ext cx="853135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1F3A2E"/>
                </a:solidFill>
                <a:latin typeface="Helvetica"/>
              </a:rPr>
              <a:t>Connected sources: GA4 (G-FHBQE8QZM9), Google Ads, Meta Ads via Supermetrics, Brevo for offline conversions. Shareable view-only link will be added once campaign launches.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Assumptions made explicit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Things the brief left open — and what we decided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19456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447040"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Decision area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What we assumed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</a:tr>
              <a:tr h="44704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Discount amount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€50 off bookings €300+ — 16.7% meaningful, doesn't devalue brand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Validity period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90 days — matches Italian booking cycle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44704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Travel dates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1 Jun – 31 Dec 2026, excl. Christmas, NYE, Ferragosto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Geographic scope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Italian residents only · landing page in Italian (EN toggle for academic submission)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44704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Refund policy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Standard airline cancellation per carrier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Payment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Card · PayPal · immediate e-ticket delivery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44704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Eligibility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18+, valid email required, phone optional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Email frequency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1 welcome series + 1 weekly deal + expiry reminders — opt-out always one click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28 / 34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5EFE6"/>
                </a:solidFill>
                <a:latin typeface="Georgia"/>
              </a:rPr>
              <a:t>Risks &amp; mitigations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9456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522514"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Risk</a:t>
                      </a:r>
                    </a:p>
                  </a:txBody>
                  <a:tcPr>
                    <a:solidFill>
                      <a:srgbClr val="D97642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Mitigation</a:t>
                      </a:r>
                    </a:p>
                  </a:txBody>
                  <a:tcPr>
                    <a:solidFill>
                      <a:srgbClr val="D97642"/>
                    </a:solidFill>
                  </a:tcPr>
                </a:tc>
              </a:tr>
              <a:tr h="522514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CPL exceeds €6.67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Pause weakest sub-campaign weekly; reallocate to retargeting (lowest CPL)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Coupon redemption &lt; 10%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A/B test discount value (€50 vs €75) in week 4; longer email nurture sequence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522514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Italian Q2 holiday clusters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Timeline avoids Easter, Liberation Day, Labour Day, Republic 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Privacy regulator scrutiny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Consent Mode v2 default-denied, DPO email visible, retention policy enforced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522514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Single-channel dependency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Two paid channels + organic blog SEO + email — no single point of failure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Brand-name confusion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Branded search budget (€100) protects "backpack &amp; bottle" SERPs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5EFE6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F5EFE6"/>
                </a:solidFill>
                <a:latin typeface="Inter"/>
              </a:rPr>
              <a:t>29 / 34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Internal consistency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Audience → Offer → Positioning → Media → Budget → KPIs → Timing all align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Audience → Offer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219456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Millennials value experiences → city break packages with authentic local 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3347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Audience → Coupon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633472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Budget-conscious but not cheap → €50 discount, meaningful but not feels cheap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7238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Audience → Curation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072384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Decision fatigue → 3–5 curated options per city, not 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11296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Offer → Positioning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511296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Curated packages → "Skip the research fatigue" message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5020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Offer → Trust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950208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Transparent pricing → differentiation from sketchy OTAs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891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Positioning → Media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438912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"Instagram-worthy" → visual Meta ads · "Planning fatigue" → search ads on intent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82803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Media → Budget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4828032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Meta-heavy where audience spends time + affordable Italian CPCs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26694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Budget → KPIs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5266944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€6.67 target CPL achievable with Meta €0.70–1.00 CPC + 6% form CVR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705856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KPIs → Timing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5705856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May launch hits the peak summer-trip booking window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Verdict: no contradictions. Brief is internally coherent and execution-ready.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30 / 34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5EFE6"/>
                </a:solidFill>
                <a:latin typeface="Georgia"/>
              </a:rPr>
              <a:t>What we delivered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EFE6"/>
                </a:solidFill>
                <a:latin typeface="Inter"/>
              </a:rPr>
              <a:t>Beyond the brief: an actual working campaign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Inter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EFE6"/>
                </a:solidFill>
                <a:latin typeface="Inter"/>
              </a:rPr>
              <a:t>Live website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146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EFE6"/>
                </a:solidFill>
                <a:latin typeface="Inter"/>
              </a:rPr>
              <a:t>Next.js + Vercel · backpack-bottle.vercel.app · publicly accessible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718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Inter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971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EFE6"/>
                </a:solidFill>
                <a:latin typeface="Inter"/>
              </a:rPr>
              <a:t>Brand identity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918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EFE6"/>
                </a:solidFill>
                <a:latin typeface="Inter"/>
              </a:rPr>
              <a:t>Wordmark + line mark · 6-colour palette · Fraunces + Inter typography · voice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490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Inter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7490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EFE6"/>
                </a:solidFill>
                <a:latin typeface="Inter"/>
              </a:rPr>
              <a:t>Branded coupon 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0690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EFE6"/>
                </a:solidFill>
                <a:latin typeface="Inter"/>
              </a:rPr>
              <a:t>BB50 single-page PDF generated programmatically — served from /public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Inter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5262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EFE6"/>
                </a:solidFill>
                <a:latin typeface="Inter"/>
              </a:rPr>
              <a:t>Public measurement page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8463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EFE6"/>
                </a:solidFill>
                <a:latin typeface="Inter"/>
              </a:rPr>
              <a:t>/measurement on the live site documents the entire tracking 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303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Inter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3035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EFE6"/>
                </a:solidFill>
                <a:latin typeface="Inter"/>
              </a:rPr>
              <a:t>3 SEO blog posts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6235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EFE6"/>
                </a:solidFill>
                <a:latin typeface="Inter"/>
              </a:rPr>
              <a:t>Weekend itinerary · booking timing · destination comparison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21945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Inter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59" y="2194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EFE6"/>
                </a:solidFill>
                <a:latin typeface="Inter"/>
              </a:rPr>
              <a:t>Italian + English landing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59" y="25146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EFE6"/>
                </a:solidFill>
                <a:latin typeface="Inter"/>
              </a:rPr>
              <a:t>EN/IT toggle · localStorage persisted · academic-friendly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9" y="29718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Inter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59" y="2971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EFE6"/>
                </a:solidFill>
                <a:latin typeface="Inter"/>
              </a:rPr>
              <a:t>GDPR Consent Mode v2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59" y="32918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EFE6"/>
                </a:solidFill>
                <a:latin typeface="Inter"/>
              </a:rPr>
              <a:t>Default-denied banner · audit-ready · all 4 signals modelled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59" y="37490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Inter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59" y="37490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EFE6"/>
                </a:solidFill>
                <a:latin typeface="Inter"/>
              </a:rPr>
              <a:t>Tracking dataLayer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59" y="40690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EFE6"/>
                </a:solidFill>
                <a:latin typeface="Inter"/>
              </a:rPr>
              <a:t>10 custom events · 10 GTM tags · 2 custom dimensions · ready to publish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59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Inter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59" y="45262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EFE6"/>
                </a:solidFill>
                <a:latin typeface="Inter"/>
              </a:rPr>
              <a:t>This deck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59" y="48463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EFE6"/>
                </a:solidFill>
                <a:latin typeface="Inter"/>
              </a:rPr>
              <a:t>30 slides covering brief → strategy → brand → site → tracking → media → KPIs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5EFE6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F5EFE6"/>
                </a:solidFill>
                <a:latin typeface="Inter"/>
              </a:rPr>
              <a:t>31 / 34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Next steps to go truly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What a real launch would require beyond this academic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7642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945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Legal entity + payment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19456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VAT registration · Stripe Italia · IATA accreditation or partner OTA contract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7642"/>
                </a:solidFill>
                <a:latin typeface="Georg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697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Real supply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69748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Negotiate flight + hotel partnership rates for the 5 destinations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004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7642"/>
                </a:solidFill>
                <a:latin typeface="Georg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2004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Booking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20040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Replace static destination cards with a real booking flow + inventory feed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7033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7642"/>
                </a:solidFill>
                <a:latin typeface="Georgia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703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Customer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70332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Italian-language email + chat with 24h response SLA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062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7642"/>
                </a:solidFill>
                <a:latin typeface="Georgia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2062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Email 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20624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Klaviyo with behaviour-triggered flows (e.g., abandoned form, viewed-but-no-form)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091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7642"/>
                </a:solidFill>
                <a:latin typeface="Georgia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7091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Performance creative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70916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Ongoing weekly creative refresh — Meta fatigue at 3–5 days for cold audiences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2120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7642"/>
                </a:solidFill>
                <a:latin typeface="Georgia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2120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Real Looker connection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521208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GA4 → BigQuery export → Looker Studio for unsampled long-term reporting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7150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7642"/>
                </a:solidFill>
                <a:latin typeface="Georgia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7150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Compliance audit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571500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External DPO review pre-launch · cookie audit · privacy policy lawyer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32 / 34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5EFE6"/>
                </a:solidFill>
                <a:latin typeface="Georgia"/>
              </a:rPr>
              <a:t>Where to find everything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Live 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37744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EFE6"/>
                </a:solidFill>
                <a:latin typeface="Courier New"/>
              </a:rPr>
              <a:t>https://backpack-bottle.vercel.app  (public)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GitHub repo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92608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EFE6"/>
                </a:solidFill>
                <a:latin typeface="Courier New"/>
              </a:rPr>
              <a:t>https://github.com/saikanagat1117-sys/backpack-bottle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747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Measurement page (live)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347472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EFE6"/>
                </a:solidFill>
                <a:latin typeface="Courier New"/>
              </a:rPr>
              <a:t>https://backpack-bottle.vercel.app/measurement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23359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Branded coupon PDF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4023359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EFE6"/>
                </a:solidFill>
                <a:latin typeface="Courier New"/>
              </a:rPr>
              <a:t>https://backpack-bottle.vercel.app/backpack-bottle-coupon-BB50.pdf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720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Privacy &amp; T&amp;Cs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457200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EFE6"/>
                </a:solidFill>
                <a:latin typeface="Courier New"/>
              </a:rPr>
              <a:t>https://backpack-bottle.vercel.app/privacy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206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Blog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512064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EFE6"/>
                </a:solidFill>
                <a:latin typeface="Courier New"/>
              </a:rPr>
              <a:t>https://backpack-bottle.vercel.app/blog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69279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This deck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5669279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EFE6"/>
                </a:solidFill>
                <a:latin typeface="Courier New"/>
              </a:rPr>
              <a:t>Backpack-Bottle-Campaign.pptx (in repo /public folder)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5EFE6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F5EFE6"/>
                </a:solidFill>
                <a:latin typeface="Inter"/>
              </a:rPr>
              <a:t>33 / 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>
                <a:solidFill>
                  <a:srgbClr val="F5EFE6"/>
                </a:solidFill>
                <a:latin typeface="Georgia"/>
              </a:rPr>
              <a:t>Thank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D97642"/>
                </a:solidFill>
                <a:latin typeface="Georgia"/>
              </a:rPr>
              <a:t>Skip the research fatigue.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EFE6"/>
                </a:solidFill>
                <a:latin typeface="Inter"/>
              </a:rPr>
              <a:t>Group 3: Sai · Marica · Alberto · Cecilia · Marilu · Amelia  ·  Bologna Business School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21792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F5EFE6"/>
                </a:solidFill>
                <a:latin typeface="Inter"/>
              </a:rPr>
              <a:t>saikanagat1117@gmail.com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The full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6B62"/>
                </a:solidFill>
                <a:latin typeface="Helvetica"/>
              </a:rPr>
              <a:t>Six layers · 27 components · single source of truth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11274552" cy="658368"/>
          </a:xfrm>
          <a:prstGeom prst="rect">
            <a:avLst/>
          </a:prstGeom>
          <a:solidFill>
            <a:srgbClr val="E8E0D0"/>
          </a:solidFill>
          <a:ln>
            <a:solidFill>
              <a:srgbClr val="1F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2011680" cy="658368"/>
          </a:xfrm>
          <a:prstGeom prst="rect">
            <a:avLst/>
          </a:prstGeom>
          <a:solidFill>
            <a:srgbClr val="1F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848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5EFE6"/>
                </a:solidFill>
                <a:latin typeface="Helvetica"/>
              </a:rPr>
              <a:t>01 · ACQUISITION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042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F5EFE6"/>
                </a:solidFill>
                <a:latin typeface="Helvetica"/>
              </a:rPr>
              <a:t>How users arrive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2194560"/>
            <a:ext cx="12801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1F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79192" y="224028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Meta Ads (60%)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7639" y="2194560"/>
            <a:ext cx="12801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1F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50791" y="224028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Google Ads (40%)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49240" y="2194560"/>
            <a:ext cx="12801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1F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22392" y="224028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Organic SEO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20840" y="2194560"/>
            <a:ext cx="12801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1F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93992" y="224028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Newsletter strip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715768"/>
            <a:ext cx="11274552" cy="658368"/>
          </a:xfrm>
          <a:prstGeom prst="rect">
            <a:avLst/>
          </a:prstGeom>
          <a:solidFill>
            <a:srgbClr val="E8E0D0"/>
          </a:solidFill>
          <a:ln>
            <a:solidFill>
              <a:srgbClr val="1426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715768"/>
            <a:ext cx="2011680" cy="658368"/>
          </a:xfrm>
          <a:prstGeom prst="rect">
            <a:avLst/>
          </a:prstGeom>
          <a:solidFill>
            <a:srgbClr val="142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7889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5EFE6"/>
                </a:solidFill>
                <a:latin typeface="Helvetica"/>
              </a:rPr>
              <a:t>02 · ENGAGEMENT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00837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F5EFE6"/>
                </a:solidFill>
                <a:latin typeface="Helvetica"/>
              </a:rPr>
              <a:t>What they see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2898648"/>
            <a:ext cx="1476756" cy="292608"/>
          </a:xfrm>
          <a:prstGeom prst="rect">
            <a:avLst/>
          </a:prstGeom>
          <a:solidFill>
            <a:srgbClr val="FFFFFF"/>
          </a:solidFill>
          <a:ln>
            <a:solidFill>
              <a:srgbClr val="1426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79192" y="2944368"/>
            <a:ext cx="133959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Next.js 14 / Vercel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74236" y="2898648"/>
            <a:ext cx="12801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1426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47388" y="2944368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IT/EN locale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45836" y="2898648"/>
            <a:ext cx="1321308" cy="292608"/>
          </a:xfrm>
          <a:prstGeom prst="rect">
            <a:avLst/>
          </a:prstGeom>
          <a:solidFill>
            <a:srgbClr val="FFFFFF"/>
          </a:solidFill>
          <a:ln>
            <a:solidFill>
              <a:srgbClr val="1426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18988" y="2944368"/>
            <a:ext cx="118414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Microsoft Clarity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58584" y="2898648"/>
            <a:ext cx="1321308" cy="292608"/>
          </a:xfrm>
          <a:prstGeom prst="rect">
            <a:avLst/>
          </a:prstGeom>
          <a:solidFill>
            <a:srgbClr val="FFFFFF"/>
          </a:solidFill>
          <a:ln>
            <a:solidFill>
              <a:srgbClr val="1426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31736" y="2944368"/>
            <a:ext cx="118414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Exit-intent modal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71332" y="2898648"/>
            <a:ext cx="12801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1426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44484" y="2944368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WhatsApp button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419856"/>
            <a:ext cx="11274552" cy="658368"/>
          </a:xfrm>
          <a:prstGeom prst="rect">
            <a:avLst/>
          </a:prstGeom>
          <a:solidFill>
            <a:srgbClr val="E8E0D0"/>
          </a:solidFill>
          <a:ln>
            <a:solidFill>
              <a:srgbClr val="D97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3419856"/>
            <a:ext cx="2011680" cy="658368"/>
          </a:xfrm>
          <a:prstGeom prst="rect">
            <a:avLst/>
          </a:prstGeom>
          <a:solidFill>
            <a:srgbClr val="D9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34930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5EFE6"/>
                </a:solidFill>
                <a:latin typeface="Helvetica"/>
              </a:rPr>
              <a:t>03 · CONVERSION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71246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F5EFE6"/>
                </a:solidFill>
                <a:latin typeface="Helvetica"/>
              </a:rPr>
              <a:t>How they act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06040" y="3602736"/>
            <a:ext cx="155448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7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79192" y="3648456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Lead form (5 fields)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51960" y="3602736"/>
            <a:ext cx="1321308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7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25112" y="3648456"/>
            <a:ext cx="118414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BB50 coupon · €50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4708" y="3602736"/>
            <a:ext cx="12801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7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37860" y="3648456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Countdown timer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36308" y="3602736"/>
            <a:ext cx="12801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7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09460" y="3648456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Sticky CTA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07908" y="3602736"/>
            <a:ext cx="12801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97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81060" y="3648456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/grazie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123944"/>
            <a:ext cx="11274552" cy="658368"/>
          </a:xfrm>
          <a:prstGeom prst="rect">
            <a:avLst/>
          </a:prstGeom>
          <a:solidFill>
            <a:srgbClr val="E8E0D0"/>
          </a:solidFill>
          <a:ln>
            <a:solidFill>
              <a:srgbClr val="B85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" y="4123944"/>
            <a:ext cx="2011680" cy="658368"/>
          </a:xfrm>
          <a:prstGeom prst="rect">
            <a:avLst/>
          </a:prstGeom>
          <a:solidFill>
            <a:srgbClr val="B85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419709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5EFE6"/>
                </a:solidFill>
                <a:latin typeface="Helvetica"/>
              </a:rPr>
              <a:t>04 · RETENTION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44165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F5EFE6"/>
                </a:solidFill>
                <a:latin typeface="Helvetica"/>
              </a:rPr>
              <a:t>How they come back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06040" y="4306824"/>
            <a:ext cx="12801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B85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679192" y="4352544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Brevo ESP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977639" y="4306824"/>
            <a:ext cx="1709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B85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050791" y="4352544"/>
            <a:ext cx="15727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8-email automation #23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79008" y="4306824"/>
            <a:ext cx="12801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B85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852160" y="4352544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UTM persistence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50608" y="4306824"/>
            <a:ext cx="12801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B85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223760" y="4352544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Meta CAPI mirror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4828032"/>
            <a:ext cx="11274552" cy="658368"/>
          </a:xfrm>
          <a:prstGeom prst="rect">
            <a:avLst/>
          </a:prstGeom>
          <a:solidFill>
            <a:srgbClr val="E8E0D0"/>
          </a:solidFill>
          <a:ln>
            <a:solidFill>
              <a:srgbClr val="1F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57200" y="4828032"/>
            <a:ext cx="2011680" cy="658368"/>
          </a:xfrm>
          <a:prstGeom prst="rect">
            <a:avLst/>
          </a:prstGeom>
          <a:solidFill>
            <a:srgbClr val="1F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" y="490118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5EFE6"/>
                </a:solidFill>
                <a:latin typeface="Helvetica"/>
              </a:rPr>
              <a:t>05 · MEASUREMENT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5120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F5EFE6"/>
                </a:solidFill>
                <a:latin typeface="Helvetica"/>
              </a:rPr>
              <a:t>How we know it worked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606040" y="5010912"/>
            <a:ext cx="1321308" cy="292608"/>
          </a:xfrm>
          <a:prstGeom prst="rect">
            <a:avLst/>
          </a:prstGeom>
          <a:solidFill>
            <a:srgbClr val="FFFFFF"/>
          </a:solidFill>
          <a:ln>
            <a:solidFill>
              <a:srgbClr val="1F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679192" y="5056632"/>
            <a:ext cx="118414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GTM-KSN24TZ2 (v5)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018788" y="5010912"/>
            <a:ext cx="1321308" cy="292608"/>
          </a:xfrm>
          <a:prstGeom prst="rect">
            <a:avLst/>
          </a:prstGeom>
          <a:solidFill>
            <a:srgbClr val="FFFFFF"/>
          </a:solidFill>
          <a:ln>
            <a:solidFill>
              <a:srgbClr val="1F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091940" y="5056632"/>
            <a:ext cx="118414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GA4: G-FHBQE8QZM9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31536" y="5010912"/>
            <a:ext cx="12801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1F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504688" y="505663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Meta Pixel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803136" y="5010912"/>
            <a:ext cx="12801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1F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876288" y="505663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Looker Studio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174736" y="5010912"/>
            <a:ext cx="12801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1F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247888" y="505663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Consent Mode v2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5532120"/>
            <a:ext cx="11274552" cy="658368"/>
          </a:xfrm>
          <a:prstGeom prst="rect">
            <a:avLst/>
          </a:prstGeom>
          <a:solidFill>
            <a:srgbClr val="E8E0D0"/>
          </a:solidFill>
          <a:ln>
            <a:solidFill>
              <a:srgbClr val="5A6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57200" y="5532120"/>
            <a:ext cx="2011680" cy="658368"/>
          </a:xfrm>
          <a:prstGeom prst="rect">
            <a:avLst/>
          </a:prstGeom>
          <a:solidFill>
            <a:srgbClr val="5A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8640" y="56052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5EFE6"/>
                </a:solidFill>
                <a:latin typeface="Helvetica"/>
              </a:rPr>
              <a:t>06 · INFRA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8640" y="58247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F5EFE6"/>
                </a:solidFill>
                <a:latin typeface="Helvetica"/>
              </a:rPr>
              <a:t>Where it lives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606040" y="5715000"/>
            <a:ext cx="1554480" cy="292608"/>
          </a:xfrm>
          <a:prstGeom prst="rect">
            <a:avLst/>
          </a:prstGeom>
          <a:solidFill>
            <a:srgbClr val="FFFFFF"/>
          </a:solidFill>
          <a:ln>
            <a:solidFill>
              <a:srgbClr val="5A6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679192" y="5760720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Vercel (auto-deploy)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251960" y="5715000"/>
            <a:ext cx="12801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5A6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325112" y="576072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GitHub (public)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623560" y="5715000"/>
            <a:ext cx="1554480" cy="292608"/>
          </a:xfrm>
          <a:prstGeom prst="rect">
            <a:avLst/>
          </a:prstGeom>
          <a:solidFill>
            <a:srgbClr val="FFFFFF"/>
          </a:solidFill>
          <a:ln>
            <a:solidFill>
              <a:srgbClr val="5A6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696712" y="5760720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Next.js metadata API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269480" y="5715000"/>
            <a:ext cx="1554480" cy="292608"/>
          </a:xfrm>
          <a:prstGeom prst="rect">
            <a:avLst/>
          </a:prstGeom>
          <a:solidFill>
            <a:srgbClr val="FFFFFF"/>
          </a:solidFill>
          <a:ln>
            <a:solidFill>
              <a:srgbClr val="5A6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42632" y="5760720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F3A2E"/>
                </a:solidFill>
                <a:latin typeface="Helvetica"/>
              </a:rPr>
              <a:t>Rate limiting + GDPR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7200" y="6080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5A6B62"/>
                </a:solidFill>
                <a:latin typeface="Helvetica"/>
              </a:rPr>
              <a:t>User journey ▸  ad → site → form → coupon → email → booking · all measured · all consent-gated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LIVE · THE OFFER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5 curated city breaks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6B62"/>
                </a:solidFill>
                <a:latin typeface="Helvetica"/>
              </a:rPr>
              <a:t>1.5–3 hour flights from Italy · transparent all-in pricing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80060" y="2286000"/>
            <a:ext cx="2157984" cy="329184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est-r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377440"/>
            <a:ext cx="1975103" cy="1463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7220" y="3977639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97642"/>
                </a:solidFill>
                <a:latin typeface="Helvetica"/>
              </a:rPr>
              <a:t>ROM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" y="4206240"/>
            <a:ext cx="18836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3A2E"/>
                </a:solidFill>
                <a:latin typeface="Times-Bold"/>
              </a:rPr>
              <a:t>Rome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" y="4754880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85F31"/>
                </a:solidFill>
                <a:latin typeface="Helvetica"/>
              </a:rPr>
              <a:t>From €280 · 2n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" y="5120640"/>
            <a:ext cx="18836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5A6B62"/>
                </a:solidFill>
                <a:latin typeface="Courier"/>
              </a:rPr>
              <a:t>backpack-bottle.vercel.app/destinazioni/rome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7772" y="2286000"/>
            <a:ext cx="2157984" cy="329184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est-barcelo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9212" y="2377440"/>
            <a:ext cx="1975103" cy="14630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884932" y="3977639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97642"/>
                </a:solidFill>
                <a:latin typeface="Helvetica"/>
              </a:rPr>
              <a:t>BCN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4932" y="4206240"/>
            <a:ext cx="18836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3A2E"/>
                </a:solidFill>
                <a:latin typeface="Times-Bold"/>
              </a:rPr>
              <a:t>Barcelona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4932" y="4754880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85F31"/>
                </a:solidFill>
                <a:latin typeface="Helvetica"/>
              </a:rPr>
              <a:t>From €320 · 3n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4932" y="5120640"/>
            <a:ext cx="18836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5A6B62"/>
                </a:solidFill>
                <a:latin typeface="Courier"/>
              </a:rPr>
              <a:t>backpack-bottle.vercel.app/destinazioni/barcelona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15484" y="2286000"/>
            <a:ext cx="2157984" cy="329184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dest-amsterd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6924" y="2377440"/>
            <a:ext cx="1975103" cy="14630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152644" y="3977639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97642"/>
                </a:solidFill>
                <a:latin typeface="Helvetica"/>
              </a:rPr>
              <a:t>AMS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2644" y="4206240"/>
            <a:ext cx="18836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3A2E"/>
                </a:solidFill>
                <a:latin typeface="Times-Bold"/>
              </a:rPr>
              <a:t>Amsterdam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2644" y="4754880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85F31"/>
                </a:solidFill>
                <a:latin typeface="Helvetica"/>
              </a:rPr>
              <a:t>From €365 · 3n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2644" y="5120640"/>
            <a:ext cx="18836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5A6B62"/>
                </a:solidFill>
                <a:latin typeface="Courier"/>
              </a:rPr>
              <a:t>backpack-bottle.vercel.app/destinazioni/amsterdam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83196" y="2286000"/>
            <a:ext cx="2157984" cy="329184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dest-lisb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4636" y="2377440"/>
            <a:ext cx="1975103" cy="14630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420356" y="3977639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97642"/>
                </a:solidFill>
                <a:latin typeface="Helvetica"/>
              </a:rPr>
              <a:t>LIS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0356" y="4206240"/>
            <a:ext cx="18836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3A2E"/>
                </a:solidFill>
                <a:latin typeface="Times-Bold"/>
              </a:rPr>
              <a:t>Lisbon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0356" y="4754880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85F31"/>
                </a:solidFill>
                <a:latin typeface="Helvetica"/>
              </a:rPr>
              <a:t>From €345 · 3n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0356" y="5120640"/>
            <a:ext cx="18836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5A6B62"/>
                </a:solidFill>
                <a:latin typeface="Courier"/>
              </a:rPr>
              <a:t>backpack-bottle.vercel.app/destinazioni/lisbon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50908" y="2286000"/>
            <a:ext cx="2157984" cy="3291840"/>
          </a:xfrm>
          <a:prstGeom prst="rect">
            <a:avLst/>
          </a:prstGeom>
          <a:solidFill>
            <a:srgbClr val="FFFFFF"/>
          </a:solidFill>
          <a:ln>
            <a:solidFill>
              <a:srgbClr val="E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dest-prag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2348" y="2377440"/>
            <a:ext cx="1975103" cy="146304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688068" y="3977639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97642"/>
                </a:solidFill>
                <a:latin typeface="Helvetica"/>
              </a:rPr>
              <a:t>PRG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88068" y="4206240"/>
            <a:ext cx="18836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3A2E"/>
                </a:solidFill>
                <a:latin typeface="Times-Bold"/>
              </a:rPr>
              <a:t>Prague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8068" y="4754880"/>
            <a:ext cx="18836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85F31"/>
                </a:solidFill>
                <a:latin typeface="Helvetica"/>
              </a:rPr>
              <a:t>From €295 · 2n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88068" y="5120640"/>
            <a:ext cx="18836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5A6B62"/>
                </a:solidFill>
                <a:latin typeface="Courier"/>
              </a:rPr>
              <a:t>backpack-bottle.vercel.app/destinazioni/prague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1F3A2E"/>
                </a:solidFill>
                <a:latin typeface="Helvetica"/>
              </a:rPr>
              <a:t>Each destination has its own page: 3-day itinerary, neighbourhoods, food, FAQ, weather, budget tip — Italian + English.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COMPLIANCE · GDPR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Cookie consent — measured, not just enforced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6B62"/>
                </a:solidFill>
                <a:latin typeface="Helvetica"/>
              </a:rPr>
              <a:t>Every Accept/Reject click is a tracked event in GA4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WHAT FIRES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6400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Helvetica"/>
              </a:rPr>
              <a:t>When the user clicks Accept or Reject on the cookie banner, the site fires TWO dataLayer events:
1. consent_update — sets the four Consent Mode v2 signals
    (ad_storage, analytics_storage, ad_user_data, ad_personalization)
2. consent_choice — discrete event with a single param:
    consent_choice = 'accept' | 'reject'  ·  consent_locale = 'it' | 'en'
GTM forwards consent_choice to GA4 as a key event so we can count Accept-rate vs Reject-rate as a first-class metric in Looker Studio.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2194560"/>
            <a:ext cx="4389120" cy="3657600"/>
          </a:xfrm>
          <a:prstGeom prst="rect">
            <a:avLst/>
          </a:prstGeom>
          <a:solidFill>
            <a:srgbClr val="142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228600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D97642"/>
                </a:solidFill>
                <a:latin typeface="Courier"/>
              </a:rPr>
              <a:t>components/CookieBanner.tsx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606040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F5EFE6"/>
                </a:solidFill>
                <a:latin typeface="Courier"/>
              </a:rPr>
              <a:t>function decide(granted: boolean) {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807208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F5EFE6"/>
                </a:solidFill>
                <a:latin typeface="Courier"/>
              </a:rPr>
              <a:t>  localStorage.setItem('bb_consent',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3008376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F5EFE6"/>
                </a:solidFill>
                <a:latin typeface="Courier"/>
              </a:rPr>
              <a:t>    granted ? 'granted' : 'denied');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3209544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F5EFE6"/>
                </a:solidFill>
                <a:latin typeface="Courier"/>
              </a:rPr>
              <a:t>  pushConsent(granted);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3410712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F5EFE6"/>
                </a:solidFill>
                <a:latin typeface="Courier"/>
              </a:rPr>
              <a:t>  // measured separately: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611880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F5EFE6"/>
                </a:solidFill>
                <a:latin typeface="Courier"/>
              </a:rPr>
              <a:t>  dataLayer.push({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3813048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F5EFE6"/>
                </a:solidFill>
                <a:latin typeface="Courier"/>
              </a:rPr>
              <a:t>    event: 'consent_choice',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4014216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F5EFE6"/>
                </a:solidFill>
                <a:latin typeface="Courier"/>
              </a:rPr>
              <a:t>    consent_choice: granted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4215384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F5EFE6"/>
                </a:solidFill>
                <a:latin typeface="Courier"/>
              </a:rPr>
              <a:t>      ? 'accept' : 'reject',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416552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F5EFE6"/>
                </a:solidFill>
                <a:latin typeface="Courier"/>
              </a:rPr>
              <a:t>    consent_locale: locale,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4617720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F5EFE6"/>
                </a:solidFill>
                <a:latin typeface="Courier"/>
              </a:rPr>
              <a:t>  });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4818888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F5EFE6"/>
                </a:solidFill>
                <a:latin typeface="Courier"/>
              </a:rPr>
              <a:t>  setShow(false);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5020056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F5EFE6"/>
                </a:solidFill>
                <a:latin typeface="Courier"/>
              </a:rPr>
              <a:t>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5A6B62"/>
                </a:solidFill>
                <a:latin typeface="Helvetica"/>
              </a:rPr>
              <a:t>Why two events: consent_update sets state (Google's spec). consent_choice is human-readable for GA4 reporting. Both fire on the same click — instant Accept/Reject metrics.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Code is public, every commit is auditable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6B62"/>
                </a:solidFill>
                <a:latin typeface="Helvetica"/>
              </a:rPr>
              <a:t>github.com/saikanagat1117-sys/backpack-bottle</a:t>
            </a:r>
          </a:p>
        </p:txBody>
      </p:sp>
      <p:pic>
        <p:nvPicPr>
          <p:cNvPr id="7" name="Picture 6" descr="github-re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3993" y="2103120"/>
            <a:ext cx="1860964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5A6B62"/>
                </a:solidFill>
                <a:latin typeface="Helvetica"/>
              </a:rPr>
              <a:t>Configuration as code: GTM container, lead pipeline, brand tokens, briefings — every artefact lives in this repo and ships with the site.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LIVE · 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Every event, documented on the live site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6B62"/>
                </a:solidFill>
                <a:latin typeface="Helvetica"/>
              </a:rPr>
              <a:t>/measurement · KPI tree, dataLayer schema, custom dimensions, Consent Mode v2 audit</a:t>
            </a:r>
          </a:p>
        </p:txBody>
      </p:sp>
      <p:pic>
        <p:nvPicPr>
          <p:cNvPr id="7" name="Picture 6" descr="measur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6925" y="2103120"/>
            <a:ext cx="1375101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LIVE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/stack — the full stack as a live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6B62"/>
                </a:solidFill>
                <a:latin typeface="Helvetica"/>
              </a:rPr>
              <a:t>Same content as the visual above, browseable + shareable</a:t>
            </a:r>
          </a:p>
        </p:txBody>
      </p:sp>
      <p:pic>
        <p:nvPicPr>
          <p:cNvPr id="7" name="Picture 6" descr="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11" y="2103120"/>
            <a:ext cx="1711528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LIVE · HOMEPAGE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All 11 sections of the landing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6B62"/>
                </a:solidFill>
                <a:latin typeface="Helvetica"/>
              </a:rPr>
              <a:t>backpack-bottle.vercel.app · ~1.0s LCP · responsive</a:t>
            </a:r>
          </a:p>
        </p:txBody>
      </p:sp>
      <p:pic>
        <p:nvPicPr>
          <p:cNvPr id="7" name="Picture 6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6662" y="2103120"/>
            <a:ext cx="855627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LIVE · MOBILE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375px viewport — responsive 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6B62"/>
                </a:solidFill>
                <a:latin typeface="Helvetica"/>
              </a:rPr>
              <a:t>Mobile-first by default · 68% of Italian millennial sessions on mobile</a:t>
            </a:r>
          </a:p>
        </p:txBody>
      </p:sp>
      <p:pic>
        <p:nvPicPr>
          <p:cNvPr id="7" name="Picture 6" descr="home-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3207" y="2103120"/>
            <a:ext cx="1942536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5A6B62"/>
                </a:solidFill>
                <a:latin typeface="Helvetica"/>
              </a:rPr>
              <a:t>Tested at 375 × 812 (iPhone 13/14/15 viewport). Same dataLayer events fire — mobile + desktop = unified analytics.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LIVE · CONVERSION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/grazie — server-confirmed conversion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6B62"/>
                </a:solidFill>
                <a:latin typeface="Helvetica"/>
              </a:rPr>
              <a:t>Thank-you page · BB50 coupon revealed · noindex · fires three Key Events</a:t>
            </a:r>
          </a:p>
        </p:txBody>
      </p:sp>
      <p:pic>
        <p:nvPicPr>
          <p:cNvPr id="7" name="Picture 6" descr="graz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2264" y="2103120"/>
            <a:ext cx="5384422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LIVE ·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/privacy — GDPR + cookie + coupon T&amp;Cs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6B62"/>
                </a:solidFill>
                <a:latin typeface="Helvetica"/>
              </a:rPr>
              <a:t>Seven sections · Italian + English · audit-ready</a:t>
            </a:r>
          </a:p>
        </p:txBody>
      </p:sp>
      <p:pic>
        <p:nvPicPr>
          <p:cNvPr id="7" name="Picture 6" descr="priv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429" y="2103120"/>
            <a:ext cx="3388092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LIVE ·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Blog — 3 SEO-optimised posts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6B62"/>
                </a:solidFill>
                <a:latin typeface="Helvetica"/>
              </a:rPr>
              <a:t>Italian + English · long-form · embedded internal links to destinations</a:t>
            </a:r>
          </a:p>
        </p:txBody>
      </p:sp>
      <p:pic>
        <p:nvPicPr>
          <p:cNvPr id="7" name="Picture 6" descr="b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1718" y="2103120"/>
            <a:ext cx="4565514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GROUP 3 ·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Six roles, one shipped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6B62"/>
                </a:solidFill>
                <a:latin typeface="Helvetica"/>
              </a:rPr>
              <a:t>Each role owns a slice of the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5349240" cy="1234440"/>
          </a:xfrm>
          <a:prstGeom prst="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D97642"/>
                </a:solidFill>
                <a:latin typeface="Helvetic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6771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Times-Bold"/>
              </a:rPr>
              <a:t>Sai Prathyaksh Kanagat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06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85F31"/>
                </a:solidFill>
                <a:latin typeface="Helvetica"/>
              </a:rPr>
              <a:t>CRO Specialist + 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803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Helvetica"/>
              </a:rPr>
              <a:t>Landing page, brand, conversion.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2194560"/>
            <a:ext cx="5349240" cy="1234440"/>
          </a:xfrm>
          <a:prstGeom prst="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2860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D97642"/>
                </a:solidFill>
                <a:latin typeface="Helvetic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26771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Times-Bold"/>
              </a:rPr>
              <a:t>Marica Motta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606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85F31"/>
                </a:solidFill>
                <a:latin typeface="Helvetica"/>
              </a:rPr>
              <a:t>MarTech Specialist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8803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Helvetica"/>
              </a:rPr>
              <a:t>GTM, GA4 events, dataLayer.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66160"/>
            <a:ext cx="5349240" cy="1234440"/>
          </a:xfrm>
          <a:prstGeom prst="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6576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D97642"/>
                </a:solidFill>
                <a:latin typeface="Helvetica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3931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Times-Bold"/>
              </a:rPr>
              <a:t>Alberto Faggiotto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977639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85F31"/>
                </a:solidFill>
                <a:latin typeface="Helvetica"/>
              </a:rPr>
              <a:t>Compliance Specialist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2519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Helvetica"/>
              </a:rPr>
              <a:t>Cookie banner, Consent Mode v2, GDPR.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3566160"/>
            <a:ext cx="5349240" cy="1234440"/>
          </a:xfrm>
          <a:prstGeom prst="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36576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D97642"/>
                </a:solidFill>
                <a:latin typeface="Helvetica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63931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Times-Bold"/>
              </a:rPr>
              <a:t>Cecilia Gullett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3977639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85F31"/>
                </a:solidFill>
                <a:latin typeface="Helvetica"/>
              </a:rPr>
              <a:t>Email Marketing Specialist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2519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Helvetica"/>
              </a:rPr>
              <a:t>Brevo, 8-email welcome series.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937760"/>
            <a:ext cx="5349240" cy="1234440"/>
          </a:xfrm>
          <a:prstGeom prst="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0292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D97642"/>
                </a:solidFill>
                <a:latin typeface="Helvetica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01091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Times-Bold"/>
              </a:rPr>
              <a:t>Marilu Stevens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349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85F31"/>
                </a:solidFill>
                <a:latin typeface="Helvetica"/>
              </a:rPr>
              <a:t>Marketing Automation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6235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Helvetica"/>
              </a:rPr>
              <a:t>Form → Brevo bridge, Meta CAPI, UTM persistence.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4937760"/>
            <a:ext cx="5349240" cy="1234440"/>
          </a:xfrm>
          <a:prstGeom prst="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50292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D97642"/>
                </a:solidFill>
                <a:latin typeface="Helvetica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501091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Times-Bold"/>
              </a:rPr>
              <a:t>Amelia Ruben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349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85F31"/>
                </a:solidFill>
                <a:latin typeface="Helvetica"/>
              </a:rPr>
              <a:t>Campaign Analyst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56235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Helvetica"/>
              </a:rPr>
              <a:t>KPI tree, custom dims, Looker Studio.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OPTIMIZATION ·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A/B test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6B62"/>
                </a:solidFill>
                <a:latin typeface="Helvetica"/>
              </a:rPr>
              <a:t>What we'd run on day 1 to start learning fast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HYPOTHESIS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3A2E"/>
                </a:solidFill>
                <a:latin typeface="Helvetica"/>
              </a:rPr>
              <a:t>An emotional hero CTA ('Discover your weekend') will out-convert a transactional one ('Get your €50 coupon') for cold audiences in awareness phase. Italian millennials respond to aspiration over discount when they're not yet brand-aware.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5486400" cy="1280160"/>
          </a:xfrm>
          <a:prstGeom prst="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97642"/>
                </a:solidFill>
                <a:latin typeface="Helvetica"/>
              </a:rPr>
              <a:t>VARIANT A ·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3A2E"/>
                </a:solidFill>
                <a:latin typeface="Times-Bold"/>
              </a:rPr>
              <a:t>"Get your €50 coupon →"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262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Transactional · direct · current production copy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5352" y="3657600"/>
            <a:ext cx="5486400" cy="1280160"/>
          </a:xfrm>
          <a:prstGeom prst="rect">
            <a:avLst/>
          </a:prstGeom>
          <a:solidFill>
            <a:srgbClr val="E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3749039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97642"/>
                </a:solidFill>
                <a:latin typeface="Helvetica"/>
              </a:rPr>
              <a:t>VARIANT B · CHALLENGER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40233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3A2E"/>
                </a:solidFill>
                <a:latin typeface="Times-Bold"/>
              </a:rPr>
              <a:t>"Discover your next weekend →"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45262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Helvetica"/>
              </a:rPr>
              <a:t>Emotional · aspirational · for cold awareness audiences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120640"/>
            <a:ext cx="11274552" cy="1280160"/>
          </a:xfrm>
          <a:prstGeom prst="rect">
            <a:avLst/>
          </a:prstGeom>
          <a:solidFill>
            <a:srgbClr val="1F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212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DECISION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486400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EFE6"/>
                </a:solidFill>
                <a:latin typeface="Helvetica"/>
              </a:rPr>
              <a:t>Primary metric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5486400"/>
            <a:ext cx="8503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5EFE6"/>
                </a:solidFill>
                <a:latin typeface="Helvetica"/>
              </a:rPr>
              <a:t>form_submit conversion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69671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EFE6"/>
                </a:solidFill>
                <a:latin typeface="Helvetica"/>
              </a:rPr>
              <a:t>Sample size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5696712"/>
            <a:ext cx="8503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5EFE6"/>
                </a:solidFill>
                <a:latin typeface="Helvetica"/>
              </a:rPr>
              <a:t>~750 sessions per variant (3% baseline · 20% MDE · 95% confidence)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907024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EFE6"/>
                </a:solidFill>
                <a:latin typeface="Helvetica"/>
              </a:rPr>
              <a:t>Test duration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5907024"/>
            <a:ext cx="8503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5EFE6"/>
                </a:solidFill>
                <a:latin typeface="Helvetica"/>
              </a:rPr>
              <a:t>10–14 days minimum (covers weekday + weekend behaviour)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117336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EFE6"/>
                </a:solidFill>
                <a:latin typeface="Helvetica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6117336"/>
            <a:ext cx="8503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5EFE6"/>
                </a:solidFill>
                <a:latin typeface="Helvetica"/>
              </a:rPr>
              <a:t>Ship winner if uplift ≥15% with p&lt;0.05; else keep control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OPTIMIZATION ·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Competitor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6B62"/>
                </a:solidFill>
                <a:latin typeface="Helvetica"/>
              </a:rPr>
              <a:t>Italian travel sector · CPL, CTR, positioning · what we're up against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solidFill>
            <a:srgbClr val="1F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EFE6"/>
                </a:solidFill>
                <a:latin typeface="Helvetica"/>
              </a:rPr>
              <a:t>COMPETITOR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377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EFE6"/>
                </a:solidFill>
                <a:latin typeface="Helvetica"/>
              </a:rPr>
              <a:t>POSITIONING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3774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EFE6"/>
                </a:solidFill>
                <a:latin typeface="Helvetica"/>
              </a:rPr>
              <a:t>CPL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3774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EFE6"/>
                </a:solidFill>
                <a:latin typeface="Helvetica"/>
              </a:rPr>
              <a:t>CTR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77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EFE6"/>
                </a:solidFill>
                <a:latin typeface="Helvetica"/>
              </a:rPr>
              <a:t>LEAD MAGNET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377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EFE6"/>
                </a:solidFill>
                <a:latin typeface="Helvetica"/>
              </a:rPr>
              <a:t>OUR EDGE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51760"/>
            <a:ext cx="10972800" cy="50292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79806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F3A2E"/>
                </a:solidFill>
                <a:latin typeface="Helvetica"/>
              </a:rPr>
              <a:t>Volagratis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279806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Helvetica"/>
              </a:rPr>
              <a:t>Cheapest flights, no curation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7980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Helvetica"/>
              </a:rPr>
              <a:t>€11.20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27980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Helvetica"/>
              </a:rPr>
              <a:t>1.8%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79806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Helvetica"/>
              </a:rPr>
              <a:t>Newsletter signup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79806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Helvetica"/>
              </a:rPr>
              <a:t>We curate; they don't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154680"/>
            <a:ext cx="10972800" cy="50292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30098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F3A2E"/>
                </a:solidFill>
                <a:latin typeface="Helvetica"/>
              </a:rPr>
              <a:t>eDreams Prime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330098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Helvetica"/>
              </a:rPr>
              <a:t>Membership flight discounts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30098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Helvetica"/>
              </a:rPr>
              <a:t>€9.50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330098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Helvetica"/>
              </a:rPr>
              <a:t>2.0%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30098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Helvetica"/>
              </a:rPr>
              <a:t>Free Prime trial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330098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Helvetica"/>
              </a:rPr>
              <a:t>No subscription friction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657600"/>
            <a:ext cx="10972800" cy="50292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80390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F3A2E"/>
                </a:solidFill>
                <a:latin typeface="Helvetica"/>
              </a:rPr>
              <a:t>Lastminute.com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380390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Helvetica"/>
              </a:rPr>
              <a:t>Last-minute travel deals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380390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Helvetica"/>
              </a:rPr>
              <a:t>€8.30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380390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Helvetica"/>
              </a:rPr>
              <a:t>2.4%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80390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Helvetica"/>
              </a:rPr>
              <a:t>App download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380390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3A2E"/>
                </a:solidFill>
                <a:latin typeface="Helvetica"/>
              </a:rPr>
              <a:t>We're early-booking, not last-minute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160520"/>
            <a:ext cx="10972800" cy="502920"/>
          </a:xfrm>
          <a:prstGeom prst="rect">
            <a:avLst/>
          </a:prstGeom>
          <a:solidFill>
            <a:srgbClr val="D9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30682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5EFE6"/>
                </a:solidFill>
                <a:latin typeface="Helvetica"/>
              </a:rPr>
              <a:t>BACKPACK &amp; BOTTLE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77440" y="430682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5EFE6"/>
                </a:solidFill>
                <a:latin typeface="Helvetica"/>
              </a:rPr>
              <a:t>Curated · transparent · early-booking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430682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5EFE6"/>
                </a:solidFill>
                <a:latin typeface="Helvetica"/>
              </a:rPr>
              <a:t>€6.67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77840" y="430682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5EFE6"/>
                </a:solidFill>
                <a:latin typeface="Helvetica"/>
              </a:rPr>
              <a:t>2.7% (proj)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430682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5EFE6"/>
                </a:solidFill>
                <a:latin typeface="Helvetica"/>
              </a:rPr>
              <a:t>BB50 €50 coupon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430682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5EFE6"/>
                </a:solidFill>
                <a:latin typeface="Helvetica"/>
              </a:rPr>
              <a:t>First IT to combine all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21208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62"/>
                </a:solidFill>
                <a:latin typeface="Helvetica"/>
              </a:rPr>
              <a:t>Source: WordStream travel benchmarks 2025, SimilarWeb traffic data, Italy-localised CPC estimates from Google Keyword Planner. Our projected CPL of €6.67 is ~30% better than the closest competitor (Lastminute) — driven by tighter audience targeting (Italian millennials only) and a higher-value lead magnet (€50 coupon).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97642"/>
                </a:solidFill>
                <a:latin typeface="Helvetica"/>
              </a:rPr>
              <a:t>GROUP 3 · DIGITAL PLATFORMS LAB · BOLOGNA BUSINESS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97642"/>
                </a:solidFill>
                <a:latin typeface="Helvetica"/>
              </a:rPr>
              <a:t>OPTIMIZATION ·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F3A2E"/>
                </a:solidFill>
                <a:latin typeface="Times-Bold"/>
              </a:rPr>
              <a:t>Accessibility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6B62"/>
                </a:solidFill>
                <a:latin typeface="Helvetica"/>
              </a:rPr>
              <a:t>WCAG 2.1 AA review · 6 PASS / 3 PARTIAL · documented fixes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Helvetica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Color contrast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3500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3A2E"/>
                </a:solidFill>
                <a:latin typeface="Helvetica"/>
              </a:rPr>
              <a:t>Forest #1F3A2E on cream = 12.4:1 (AAA). Burnt on cream = 4.6:1 (AA).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235915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F3A2E"/>
                </a:solidFill>
                <a:latin typeface="Helvetica"/>
              </a:rPr>
              <a:t>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432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Helvetica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889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Heading hierarchy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8072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3A2E"/>
                </a:solidFill>
                <a:latin typeface="Helvetica"/>
              </a:rPr>
              <a:t>Single &lt;h1&gt; per page; h2/h3 cascade. Nav uses semantic &lt;nav&gt;.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281635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F3A2E"/>
                </a:solidFill>
                <a:latin typeface="Helvetica"/>
              </a:rPr>
              <a:t>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004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Helvetica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461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Alt 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2644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3A2E"/>
                </a:solidFill>
                <a:latin typeface="Helvetica"/>
              </a:rPr>
              <a:t>All images have descriptive alt. Decorative ones use aria-hidden=true.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327355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F3A2E"/>
                </a:solidFill>
                <a:latin typeface="Helvetica"/>
              </a:rPr>
              <a:t>PASS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6576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97642"/>
                </a:solidFill>
                <a:latin typeface="Helvetica"/>
              </a:rPr>
              <a:t>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7033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Form labels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721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3A2E"/>
                </a:solidFill>
                <a:latin typeface="Helvetica"/>
              </a:rPr>
              <a:t>All 5 fields labelled. Could improve: explicit aria-required=true.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373075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D97642"/>
                </a:solidFill>
                <a:latin typeface="Helvetica"/>
              </a:rPr>
              <a:t>PARTIAL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1148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97642"/>
                </a:solidFill>
                <a:latin typeface="Helvetica"/>
              </a:rPr>
              <a:t>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1605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Keyboard nav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178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3A2E"/>
                </a:solidFill>
                <a:latin typeface="Helvetica"/>
              </a:rPr>
              <a:t>Tab traversal works. Sticky CTA may need skip-link. Modal traps focus correctly.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418795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D97642"/>
                </a:solidFill>
                <a:latin typeface="Helvetica"/>
              </a:rPr>
              <a:t>PARTIAL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97642"/>
                </a:solidFill>
                <a:latin typeface="Helvetica"/>
              </a:rPr>
              <a:t>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6177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Cookie banner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6360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3A2E"/>
                </a:solidFill>
                <a:latin typeface="Helvetica"/>
              </a:rPr>
              <a:t>Dismissible via Escape. Should announce as aria-live=polite. Fix in v2.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464515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D97642"/>
                </a:solidFill>
                <a:latin typeface="Helvetica"/>
              </a:rPr>
              <a:t>PARTIAL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0292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Helvetica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0749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Focus indicators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50932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3A2E"/>
                </a:solidFill>
                <a:latin typeface="Helvetica"/>
              </a:rPr>
              <a:t>Default focus rings preserved. Visible on all interactive elements.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0" y="510235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F3A2E"/>
                </a:solidFill>
                <a:latin typeface="Helvetica"/>
              </a:rPr>
              <a:t>PASS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4864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2E"/>
                </a:solidFill>
                <a:latin typeface="Helvetica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5321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2E"/>
                </a:solidFill>
                <a:latin typeface="Helvetica"/>
              </a:rPr>
              <a:t>Lang attribute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55504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3A2E"/>
                </a:solidFill>
                <a:latin typeface="Helvetica"/>
              </a:rPr>
              <a:t>&lt;html lang='it'&gt; set; alternate hreflang for /?lang=en in metadata.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0" y="555955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F3A2E"/>
                </a:solidFill>
                <a:latin typeface="Helvetica"/>
              </a:rP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5A6B62"/>
                </a:solidFill>
                <a:latin typeface="Helvetica"/>
              </a:rPr>
              <a:t>Tooling: Manual code review + axe-core DevTools spot-check. Documented fixes shipped to v2 backlog.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